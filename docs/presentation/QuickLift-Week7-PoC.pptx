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9" r:id="rId5"/>
    <p:sldMasterId id="2147483681" r:id="rId6"/>
  </p:sldMasterIdLst>
  <p:notesMasterIdLst>
    <p:notesMasterId r:id="rId28"/>
  </p:notesMasterIdLst>
  <p:handoutMasterIdLst>
    <p:handoutMasterId r:id="rId29"/>
  </p:handoutMasterIdLst>
  <p:sldIdLst>
    <p:sldId id="270" r:id="rId7"/>
    <p:sldId id="865" r:id="rId36"/>
    <p:sldId id="866" r:id="rId37"/>
    <p:sldId id="867" r:id="rId38"/>
    <p:sldId id="868" r:id="rId39"/>
    <p:sldId id="869" r:id="rId40"/>
    <p:sldId id="870" r:id="rId41"/>
    <p:sldId id="87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51" autoAdjust="0"/>
    <p:restoredTop sz="90342"/>
  </p:normalViewPr>
  <p:slideViewPr>
    <p:cSldViewPr snapToGrid="0" snapToObjects="1">
      <p:cViewPr varScale="1">
        <p:scale>
          <a:sx n="114" d="100"/>
          <a:sy n="114" d="100"/>
        </p:scale>
        <p:origin x="1088" y="17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155" d="100"/>
          <a:sy n="155" d="100"/>
        </p:scale>
        <p:origin x="598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Mysore Seshadrinath" userId="bc05429b-4ceb-4df9-99a3-0ec7889e627d" providerId="ADAL" clId="{D277CF39-2C10-5F49-9727-D78391496FE5}"/>
    <pc:docChg chg="custSel delSld modSld">
      <pc:chgData name="Sandeep Mysore Seshadrinath" userId="bc05429b-4ceb-4df9-99a3-0ec7889e627d" providerId="ADAL" clId="{D277CF39-2C10-5F49-9727-D78391496FE5}" dt="2026-09-25T00:20:21.721" v="9" actId="20577"/>
      <pc:docMkLst>
        <pc:docMk/>
      </pc:docMkLst>
      <pc:sldChg chg="delSp modSp mod">
        <pc:chgData name="Sandeep Mysore Seshadrinath" userId="bc05429b-4ceb-4df9-99a3-0ec7889e627d" providerId="ADAL" clId="{D277CF39-2C10-5F49-9727-D78391496FE5}" dt="2026-09-25T00:20:21.721" v="9" actId="20577"/>
        <pc:sldMkLst>
          <pc:docMk/>
          <pc:sldMk cId="551899792" sldId="847"/>
        </pc:sldMkLst>
        <pc:spChg chg="del">
          <ac:chgData name="Sandeep Mysore Seshadrinath" userId="bc05429b-4ceb-4df9-99a3-0ec7889e627d" providerId="ADAL" clId="{D277CF39-2C10-5F49-9727-D78391496FE5}" dt="2026-09-25T00:20:16.446" v="6" actId="478"/>
          <ac:spMkLst>
            <pc:docMk/>
            <pc:sldMk cId="551899792" sldId="847"/>
            <ac:spMk id="14" creationId="{00000000-0000-0000-0000-000000000000}"/>
          </ac:spMkLst>
        </pc:spChg>
        <pc:spChg chg="mod">
          <ac:chgData name="Sandeep Mysore Seshadrinath" userId="bc05429b-4ceb-4df9-99a3-0ec7889e627d" providerId="ADAL" clId="{D277CF39-2C10-5F49-9727-D78391496FE5}" dt="2026-09-25T00:20:21.721" v="9" actId="20577"/>
          <ac:spMkLst>
            <pc:docMk/>
            <pc:sldMk cId="551899792" sldId="847"/>
            <ac:spMk id="17" creationId="{00000000-0000-0000-0000-000000000000}"/>
          </ac:spMkLst>
        </pc:spChg>
      </pc:sldChg>
      <pc:sldChg chg="del">
        <pc:chgData name="Sandeep Mysore Seshadrinath" userId="bc05429b-4ceb-4df9-99a3-0ec7889e627d" providerId="ADAL" clId="{D277CF39-2C10-5F49-9727-D78391496FE5}" dt="2026-09-25T00:20:02.724" v="5" actId="2696"/>
        <pc:sldMkLst>
          <pc:docMk/>
          <pc:sldMk cId="0" sldId="861"/>
        </pc:sldMkLst>
      </pc:sldChg>
      <pc:sldChg chg="modSp mod">
        <pc:chgData name="Sandeep Mysore Seshadrinath" userId="bc05429b-4ceb-4df9-99a3-0ec7889e627d" providerId="ADAL" clId="{D277CF39-2C10-5F49-9727-D78391496FE5}" dt="2026-09-25T00:19:30.691" v="4" actId="20577"/>
        <pc:sldMkLst>
          <pc:docMk/>
          <pc:sldMk cId="0" sldId="862"/>
        </pc:sldMkLst>
        <pc:spChg chg="mod">
          <ac:chgData name="Sandeep Mysore Seshadrinath" userId="bc05429b-4ceb-4df9-99a3-0ec7889e627d" providerId="ADAL" clId="{D277CF39-2C10-5F49-9727-D78391496FE5}" dt="2026-09-25T00:19:30.691" v="4" actId="20577"/>
          <ac:spMkLst>
            <pc:docMk/>
            <pc:sldMk cId="0" sldId="862"/>
            <ac:spMk id="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425C8D-C5AF-9F4F-9E24-5C2DC72753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021E46C-AA4E-214A-A45C-A09C6AE0B0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7442EA-0DF9-924B-8435-17D563E57ACA}" type="datetimeFigureOut">
              <a:rPr lang="en-US" smtClean="0"/>
              <a:t>9/25/26</a:t>
            </a:fld>
            <a:endParaRPr lang="en-US"/>
          </a:p>
        </p:txBody>
      </p:sp>
      <p:sp>
        <p:nvSpPr>
          <p:cNvPr id="4" name="Footer Placeholder 3">
            <a:extLst>
              <a:ext uri="{FF2B5EF4-FFF2-40B4-BE49-F238E27FC236}">
                <a16:creationId xmlns:a16="http://schemas.microsoft.com/office/drawing/2014/main" id="{40AAFBB1-2BB3-DA46-A158-0722D5A310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7D7EA5-B09A-264C-ABF4-E27232AD2E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321C2-EC5F-E04A-AFC0-A1F418A559B9}" type="slidenum">
              <a:rPr lang="en-US" smtClean="0"/>
              <a:t>‹#›</a:t>
            </a:fld>
            <a:endParaRPr lang="en-US"/>
          </a:p>
        </p:txBody>
      </p:sp>
    </p:spTree>
    <p:extLst>
      <p:ext uri="{BB962C8B-B14F-4D97-AF65-F5344CB8AC3E}">
        <p14:creationId xmlns:p14="http://schemas.microsoft.com/office/powerpoint/2010/main" val="194638142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00:18:45.156"/>
    </inkml:context>
    <inkml:brush xml:id="br0">
      <inkml:brushProperty name="width" value="0.05" units="cm"/>
      <inkml:brushProperty name="height" value="0.05" units="cm"/>
      <inkml:brushProperty name="color" value="#F6630D"/>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7T00:18:45.169"/>
    </inkml:context>
    <inkml:brush xml:id="br0">
      <inkml:brushProperty name="width" value="0.05" units="cm"/>
      <inkml:brushProperty name="height" value="0.05" units="cm"/>
      <inkml:brushProperty name="color" value="#F6630D"/>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955B6-3D2D-2944-B7F4-FE074C92CB41}" type="datetimeFigureOut">
              <a:rPr lang="en-US" smtClean="0"/>
              <a:t>9/25/26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6ACD0-BE8A-3D4B-8E89-B0E6ACFF594E}" type="slidenum">
              <a:rPr lang="en-US" smtClean="0"/>
              <a:t>‹#›</a:t>
            </a:fld>
            <a:endParaRPr lang="en-US"/>
          </a:p>
        </p:txBody>
      </p:sp>
    </p:spTree>
    <p:extLst>
      <p:ext uri="{BB962C8B-B14F-4D97-AF65-F5344CB8AC3E}">
        <p14:creationId xmlns:p14="http://schemas.microsoft.com/office/powerpoint/2010/main" val="3859273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team and the product name: QuickLift, an AI agent that fixes what stops Australian shoppers buying on small Shopify stores. Then go straight to the problem.</a:t>
            </a:r>
          </a:p>
        </p:txBody>
      </p:sp>
      <p:sp>
        <p:nvSpPr>
          <p:cNvPr id="4" name="Slide Number Placeholder 3"/>
          <p:cNvSpPr>
            <a:spLocks noGrp="1"/>
          </p:cNvSpPr>
          <p:nvPr>
            <p:ph type="sldNum" sz="quarter" idx="5"/>
          </p:nvPr>
        </p:nvSpPr>
        <p:spPr/>
        <p:txBody>
          <a:bodyPr/>
          <a:lstStyle/>
          <a:p>
            <a:fld id="{6246ACD0-BE8A-3D4B-8E89-B0E6ACFF594E}" type="slidenum">
              <a:rPr lang="en-US" smtClean="0"/>
              <a:t>1</a:t>
            </a:fld>
            <a:endParaRPr lang="en-US"/>
          </a:p>
        </p:txBody>
      </p:sp>
    </p:spTree>
    <p:extLst>
      <p:ext uri="{BB962C8B-B14F-4D97-AF65-F5344CB8AC3E}">
        <p14:creationId xmlns:p14="http://schemas.microsoft.com/office/powerpoint/2010/main" val="3428367042"/>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One sentence: small Australian Shopify stores lose sales to small gaps, and the owner can't tell which matter or fix them without a developer. Strongest evidence first: our owner's own words. Then Baymard on surprise costs, and that even a big brand like Frank Body misses basics.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This is the owner's dashboard: what to fix first, and the agent. Decision 1: Shopify only, because every Shopify store publishes its pages and products, so we can check any store with no install; conversion works the same across ecommerce, so we didn't narrow to one category. Decision 2: the owner always sees the change on their own page first; our Week 2 research said trust is the barrier. Decision 3: it never invents facts, so we deliberately don't add reviews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the heart of it. Today: to change anything on a Shopify page the owner has to find the right theme file and write code, or pay a developer. With QuickLift: they type the change in plain words. The agent reads that exact page, writes the code against the store's own theme, and shows it on the real page. The owner checks it, including any fact the agent flags, like a shipping time it can't know, and presses Approve. That's the work it takes off their plate.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A web app on Node and Express with Claude as the agent. No database: each check reads the store's public pages live. Be honest: there's no log-in yet, and publishing is set up for one store we hold a key for. PROMPTS.md is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 minutes. Use the demo bar at the top (keys 1, 2, 3) to move between home, dashboard and preview. Check frankbody.com once before presenting so it loads instantly. If something fails, say so and go to the backup slide or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 live demo fails. There's also a screen recording of the full demo.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976E31-1EA1-274A-A1AD-5915E61D3EEC}"/>
              </a:ext>
            </a:extLst>
          </p:cNvPr>
          <p:cNvSpPr/>
          <p:nvPr userDrawn="1"/>
        </p:nvSpPr>
        <p:spPr>
          <a:xfrm>
            <a:off x="10010233" y="0"/>
            <a:ext cx="2183586"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UNSW Sydney Logo">
            <a:extLst>
              <a:ext uri="{FF2B5EF4-FFF2-40B4-BE49-F238E27FC236}">
                <a16:creationId xmlns:a16="http://schemas.microsoft.com/office/drawing/2014/main" id="{F0BF8575-4955-BC4A-80DE-4BF637C59C7B}"/>
              </a:ext>
            </a:extLst>
          </p:cNvPr>
          <p:cNvPicPr>
            <a:picLocks noChangeAspect="1"/>
          </p:cNvPicPr>
          <p:nvPr userDrawn="1"/>
        </p:nvPicPr>
        <p:blipFill>
          <a:blip r:embed="rId2"/>
          <a:srcRect/>
          <a:stretch/>
        </p:blipFill>
        <p:spPr>
          <a:xfrm>
            <a:off x="10593240" y="522000"/>
            <a:ext cx="1188000" cy="1240241"/>
          </a:xfrm>
          <a:prstGeom prst="rect">
            <a:avLst/>
          </a:prstGeom>
        </p:spPr>
      </p:pic>
      <p:sp>
        <p:nvSpPr>
          <p:cNvPr id="10" name="Title Placeholder 1" descr="Click to edit master title style&#10;">
            <a:extLst>
              <a:ext uri="{FF2B5EF4-FFF2-40B4-BE49-F238E27FC236}">
                <a16:creationId xmlns:a16="http://schemas.microsoft.com/office/drawing/2014/main" id="{86AF8517-E0F0-4998-8AA8-25A0DD8EF33A}"/>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11" name="Text Placeholder 2" descr="Click to add secondary details&#10;">
            <a:extLst>
              <a:ext uri="{FF2B5EF4-FFF2-40B4-BE49-F238E27FC236}">
                <a16:creationId xmlns:a16="http://schemas.microsoft.com/office/drawing/2014/main" id="{D34C583A-86D7-4AD9-912C-AA86DC354559}"/>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lvl1pPr>
              <a:defRPr>
                <a:latin typeface="Arial" panose="020B0604020202020204" pitchFamily="34" charset="0"/>
                <a:cs typeface="Arial" panose="020B0604020202020204" pitchFamily="34" charset="0"/>
              </a:defRPr>
            </a:lvl1pPr>
          </a:lstStyle>
          <a:p>
            <a:pPr lvl="0"/>
            <a:r>
              <a:rPr lang="en-GB" dirty="0"/>
              <a:t>Secondary details go here</a:t>
            </a:r>
          </a:p>
        </p:txBody>
      </p:sp>
    </p:spTree>
    <p:extLst>
      <p:ext uri="{BB962C8B-B14F-4D97-AF65-F5344CB8AC3E}">
        <p14:creationId xmlns:p14="http://schemas.microsoft.com/office/powerpoint/2010/main" val="3319605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461725" y="-859599"/>
            <a:ext cx="7756149" cy="8354779"/>
          </a:xfrm>
          <a:prstGeom prst="rect">
            <a:avLst/>
          </a:prstGeom>
        </p:spPr>
      </p:pic>
      <p:sp>
        <p:nvSpPr>
          <p:cNvPr id="7" name="Rectangle 6">
            <a:extLst>
              <a:ext uri="{FF2B5EF4-FFF2-40B4-BE49-F238E27FC236}">
                <a16:creationId xmlns:a16="http://schemas.microsoft.com/office/drawing/2014/main" id="{8FBC9DD3-2081-9D4A-BCDD-FD7DDC635932}"/>
              </a:ext>
            </a:extLst>
          </p:cNvPr>
          <p:cNvSpPr/>
          <p:nvPr userDrawn="1"/>
        </p:nvSpPr>
        <p:spPr>
          <a:xfrm>
            <a:off x="10010233" y="0"/>
            <a:ext cx="2183586"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2" name="Picture 1" descr="UNSW Sydney Logo">
            <a:extLst>
              <a:ext uri="{FF2B5EF4-FFF2-40B4-BE49-F238E27FC236}">
                <a16:creationId xmlns:a16="http://schemas.microsoft.com/office/drawing/2014/main" id="{16367954-2926-486A-95D7-D57A05D0A1ED}"/>
              </a:ext>
            </a:extLst>
          </p:cNvPr>
          <p:cNvPicPr>
            <a:picLocks noChangeAspect="1"/>
          </p:cNvPicPr>
          <p:nvPr userDrawn="1"/>
        </p:nvPicPr>
        <p:blipFill>
          <a:blip r:embed="rId3"/>
          <a:srcRect/>
          <a:stretch/>
        </p:blipFill>
        <p:spPr>
          <a:xfrm>
            <a:off x="10667151" y="5261593"/>
            <a:ext cx="1188000" cy="1240241"/>
          </a:xfrm>
          <a:prstGeom prst="rect">
            <a:avLst/>
          </a:prstGeom>
        </p:spPr>
      </p:pic>
    </p:spTree>
    <p:extLst>
      <p:ext uri="{BB962C8B-B14F-4D97-AF65-F5344CB8AC3E}">
        <p14:creationId xmlns:p14="http://schemas.microsoft.com/office/powerpoint/2010/main" val="31868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Lst>
          </p:cNvPr>
          <p:cNvSpPr/>
          <p:nvPr userDrawn="1"/>
        </p:nvSpPr>
        <p:spPr>
          <a:xfrm>
            <a:off x="1" y="1"/>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7" name="Picture 6" descr="Shape, arrow&#10;&#10;Description automatically generated">
            <a:extLst>
              <a:ext uri="{FF2B5EF4-FFF2-40B4-BE49-F238E27FC236}">
                <a16:creationId xmlns:a16="http://schemas.microsoft.com/office/drawing/2014/main" id="{06AA350A-B2F4-79AE-53AE-78E33FFD6C1F}"/>
              </a:ext>
            </a:extLst>
          </p:cNvPr>
          <p:cNvPicPr>
            <a:picLocks noChangeAspect="1"/>
          </p:cNvPicPr>
          <p:nvPr userDrawn="1"/>
        </p:nvPicPr>
        <p:blipFill>
          <a:blip r:embed="rId2"/>
          <a:stretch>
            <a:fillRect/>
          </a:stretch>
        </p:blipFill>
        <p:spPr>
          <a:xfrm rot="2894683">
            <a:off x="1253302" y="-398755"/>
            <a:ext cx="4736592" cy="6444871"/>
          </a:xfrm>
          <a:prstGeom prst="rect">
            <a:avLst/>
          </a:prstGeom>
        </p:spPr>
      </p:pic>
      <p:sp>
        <p:nvSpPr>
          <p:cNvPr id="3" name="Picture Placeholder 2" descr="Click icon to add pictur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87B7DB84-DBF6-43D5-A225-64A86E32A4E9}"/>
              </a:ext>
            </a:extLst>
          </p:cNvPr>
          <p:cNvPicPr>
            <a:picLocks noChangeAspect="1"/>
          </p:cNvPicPr>
          <p:nvPr userDrawn="1"/>
        </p:nvPicPr>
        <p:blipFill>
          <a:blip r:embed="rId3"/>
          <a:srcRect/>
          <a:stretch/>
        </p:blipFill>
        <p:spPr>
          <a:xfrm>
            <a:off x="412071" y="5320584"/>
            <a:ext cx="1189685" cy="1242000"/>
          </a:xfrm>
          <a:prstGeom prst="rect">
            <a:avLst/>
          </a:prstGeom>
        </p:spPr>
      </p:pic>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3481362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1D9F833-BA4F-E348-9506-0D3D621C75CA}"/>
              </a:ext>
            </a:extLst>
          </p:cNvPr>
          <p:cNvSpPr/>
          <p:nvPr userDrawn="1"/>
        </p:nvSpPr>
        <p:spPr>
          <a:xfrm>
            <a:off x="6740525" y="1"/>
            <a:ext cx="5453294" cy="501575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FF675AE0-8F62-485C-BF3D-6598839BADFF}"/>
              </a:ext>
            </a:extLst>
          </p:cNvPr>
          <p:cNvPicPr>
            <a:picLocks noChangeAspect="1"/>
          </p:cNvPicPr>
          <p:nvPr userDrawn="1"/>
        </p:nvPicPr>
        <p:blipFill>
          <a:blip r:embed="rId2"/>
          <a:srcRect/>
          <a:stretch/>
        </p:blipFill>
        <p:spPr>
          <a:xfrm>
            <a:off x="10735975" y="5300921"/>
            <a:ext cx="1188000" cy="1240241"/>
          </a:xfrm>
          <a:prstGeom prst="rect">
            <a:avLst/>
          </a:prstGeom>
        </p:spPr>
      </p:pic>
    </p:spTree>
    <p:extLst>
      <p:ext uri="{BB962C8B-B14F-4D97-AF65-F5344CB8AC3E}">
        <p14:creationId xmlns:p14="http://schemas.microsoft.com/office/powerpoint/2010/main" val="3619429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E16058-FC97-C34C-A94D-1AEBA1319CEF}"/>
              </a:ext>
            </a:extLst>
          </p:cNvPr>
          <p:cNvSpPr/>
          <p:nvPr userDrawn="1"/>
        </p:nvSpPr>
        <p:spPr>
          <a:xfrm>
            <a:off x="1" y="0"/>
            <a:ext cx="12191999" cy="5000624"/>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Shape, circle&#10;&#10;Description automatically generated">
            <a:extLst>
              <a:ext uri="{FF2B5EF4-FFF2-40B4-BE49-F238E27FC236}">
                <a16:creationId xmlns:a16="http://schemas.microsoft.com/office/drawing/2014/main" id="{B927EE41-A83A-A9AD-F2C3-0827F1440F60}"/>
              </a:ext>
            </a:extLst>
          </p:cNvPr>
          <p:cNvPicPr>
            <a:picLocks noChangeAspect="1"/>
          </p:cNvPicPr>
          <p:nvPr userDrawn="1"/>
        </p:nvPicPr>
        <p:blipFill>
          <a:blip r:embed="rId2"/>
          <a:stretch>
            <a:fillRect/>
          </a:stretch>
        </p:blipFill>
        <p:spPr>
          <a:xfrm rot="3024056">
            <a:off x="3583339" y="-257331"/>
            <a:ext cx="6243723" cy="7372662"/>
          </a:xfrm>
          <a:prstGeom prst="rect">
            <a:avLst/>
          </a:prstGeom>
        </p:spPr>
      </p:pic>
      <p:sp>
        <p:nvSpPr>
          <p:cNvPr id="6" name="Text Placeholder 2" descr="Click to add secondary details&#10;">
            <a:extLst>
              <a:ext uri="{FF2B5EF4-FFF2-40B4-BE49-F238E27FC236}">
                <a16:creationId xmlns:a16="http://schemas.microsoft.com/office/drawing/2014/main" id="{D58515C2-9BB5-4C9A-BBC5-7F4A491DD6EC}"/>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2" name="Picture 1" descr="UNSW Sydney Logo">
            <a:extLst>
              <a:ext uri="{FF2B5EF4-FFF2-40B4-BE49-F238E27FC236}">
                <a16:creationId xmlns:a16="http://schemas.microsoft.com/office/drawing/2014/main" id="{21B83991-6CB1-46A6-A70E-59562F1A4541}"/>
              </a:ext>
            </a:extLst>
          </p:cNvPr>
          <p:cNvPicPr>
            <a:picLocks noChangeAspect="1"/>
          </p:cNvPicPr>
          <p:nvPr userDrawn="1"/>
        </p:nvPicPr>
        <p:blipFill>
          <a:blip r:embed="rId3"/>
          <a:srcRect/>
          <a:stretch/>
        </p:blipFill>
        <p:spPr>
          <a:xfrm>
            <a:off x="10735975" y="5300921"/>
            <a:ext cx="1188000" cy="1240241"/>
          </a:xfrm>
          <a:prstGeom prst="rect">
            <a:avLst/>
          </a:prstGeom>
        </p:spPr>
      </p:pic>
      <p:sp>
        <p:nvSpPr>
          <p:cNvPr id="5" name="Title Placeholder 1" descr="Click to edit master title style&#10;">
            <a:extLst>
              <a:ext uri="{FF2B5EF4-FFF2-40B4-BE49-F238E27FC236}">
                <a16:creationId xmlns:a16="http://schemas.microsoft.com/office/drawing/2014/main" id="{2D2519EB-A5E4-4600-B620-DAE568D00CAB}"/>
              </a:ext>
            </a:extLst>
          </p:cNvPr>
          <p:cNvSpPr>
            <a:spLocks noGrp="1"/>
          </p:cNvSpPr>
          <p:nvPr>
            <p:ph type="title"/>
          </p:nvPr>
        </p:nvSpPr>
        <p:spPr>
          <a:xfrm>
            <a:off x="325985" y="3515321"/>
            <a:ext cx="11268000" cy="1785600"/>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678658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03B341F3-514D-F42F-D0AA-C75B36DDF590}"/>
              </a:ext>
            </a:extLst>
          </p:cNvPr>
          <p:cNvPicPr>
            <a:picLocks noChangeAspect="1"/>
          </p:cNvPicPr>
          <p:nvPr userDrawn="1"/>
        </p:nvPicPr>
        <p:blipFill>
          <a:blip r:embed="rId2"/>
          <a:stretch>
            <a:fillRect/>
          </a:stretch>
        </p:blipFill>
        <p:spPr>
          <a:xfrm rot="13685278">
            <a:off x="659043" y="1428646"/>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3"/>
          <a:srcRect/>
          <a:stretch/>
        </p:blipFill>
        <p:spPr>
          <a:xfrm>
            <a:off x="304630" y="526455"/>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a:t>Click to edit Master title style</a:t>
            </a:r>
            <a:endParaRPr lang="en-US" dirty="0"/>
          </a:p>
        </p:txBody>
      </p:sp>
    </p:spTree>
    <p:extLst>
      <p:ext uri="{BB962C8B-B14F-4D97-AF65-F5344CB8AC3E}">
        <p14:creationId xmlns:p14="http://schemas.microsoft.com/office/powerpoint/2010/main" val="4076737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D3B421E-C230-4985-A55F-249E4712D5D8}"/>
              </a:ext>
            </a:extLst>
          </p:cNvPr>
          <p:cNvSpPr>
            <a:spLocks noGrp="1"/>
          </p:cNvSpPr>
          <p:nvPr>
            <p:ph type="title"/>
          </p:nvPr>
        </p:nvSpPr>
        <p:spPr/>
        <p:txBody>
          <a:bodyPr/>
          <a:lstStyle/>
          <a:p>
            <a:r>
              <a:rPr lang="en-GB"/>
              <a:t>Click to edit Master title style</a:t>
            </a:r>
            <a:endParaRPr lang="en-AU" dirty="0"/>
          </a:p>
        </p:txBody>
      </p:sp>
      <p:sp>
        <p:nvSpPr>
          <p:cNvPr id="3" name="Content Placeholder 2" descr="Click to edit body text styles">
            <a:extLst>
              <a:ext uri="{FF2B5EF4-FFF2-40B4-BE49-F238E27FC236}">
                <a16:creationId xmlns:a16="http://schemas.microsoft.com/office/drawing/2014/main" id="{9F9B1106-1747-47C6-AD4D-1ED872037F93}"/>
              </a:ext>
            </a:extLst>
          </p:cNvPr>
          <p:cNvSpPr>
            <a:spLocks noGrp="1"/>
          </p:cNvSpPr>
          <p:nvPr>
            <p:ph idx="1"/>
          </p:nvPr>
        </p:nvSpPr>
        <p:spPr>
          <a:xfrm>
            <a:off x="410400" y="4017488"/>
            <a:ext cx="4730400" cy="370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4" name="Date Placeholder 3" descr="Click to add date Day/Month/Year">
            <a:extLst>
              <a:ext uri="{FF2B5EF4-FFF2-40B4-BE49-F238E27FC236}">
                <a16:creationId xmlns:a16="http://schemas.microsoft.com/office/drawing/2014/main" id="{EE6605EE-6C12-4B09-B328-5FC771964EB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a:p>
        </p:txBody>
      </p:sp>
      <p:sp>
        <p:nvSpPr>
          <p:cNvPr id="5" name="Footer Placeholder 4" descr="Click to add a footer">
            <a:extLst>
              <a:ext uri="{FF2B5EF4-FFF2-40B4-BE49-F238E27FC236}">
                <a16:creationId xmlns:a16="http://schemas.microsoft.com/office/drawing/2014/main" id="{39B7F1C5-E024-4AB0-B408-32F5C1A10AB0}"/>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6" name="Slide Number Placeholder 5" descr="Click to add page number">
            <a:extLst>
              <a:ext uri="{FF2B5EF4-FFF2-40B4-BE49-F238E27FC236}">
                <a16:creationId xmlns:a16="http://schemas.microsoft.com/office/drawing/2014/main" id="{59489FD8-71FE-4137-8FE6-DC2A193CC355}"/>
              </a:ext>
            </a:extLst>
          </p:cNvPr>
          <p:cNvSpPr>
            <a:spLocks noGrp="1"/>
          </p:cNvSpPr>
          <p:nvPr>
            <p:ph type="sldNum" sz="quarter" idx="12"/>
          </p:nvPr>
        </p:nvSpPr>
        <p:spPr/>
        <p:txBody>
          <a:bodyPr/>
          <a:lstStyle>
            <a:lvl1pPr>
              <a:defRPr>
                <a:solidFill>
                  <a:schemeClr val="tx1"/>
                </a:solidFill>
              </a:defRPr>
            </a:lvl1pPr>
          </a:lstStyle>
          <a:p>
            <a:endParaRPr lang="en-AU" dirty="0"/>
          </a:p>
        </p:txBody>
      </p:sp>
    </p:spTree>
    <p:extLst>
      <p:ext uri="{BB962C8B-B14F-4D97-AF65-F5344CB8AC3E}">
        <p14:creationId xmlns:p14="http://schemas.microsoft.com/office/powerpoint/2010/main" val="151668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1228189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03B341F3-514D-F42F-D0AA-C75B36DDF590}"/>
              </a:ext>
            </a:extLst>
          </p:cNvPr>
          <p:cNvPicPr>
            <a:picLocks noChangeAspect="1"/>
          </p:cNvPicPr>
          <p:nvPr userDrawn="1"/>
        </p:nvPicPr>
        <p:blipFill>
          <a:blip r:embed="rId2"/>
          <a:stretch>
            <a:fillRect/>
          </a:stretch>
        </p:blipFill>
        <p:spPr>
          <a:xfrm rot="13685278">
            <a:off x="647612" y="1428645"/>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3"/>
          <a:srcRect/>
          <a:stretch/>
        </p:blipFill>
        <p:spPr>
          <a:xfrm>
            <a:off x="304630" y="526455"/>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a:t>Click to edit Master title style</a:t>
            </a:r>
            <a:endParaRPr lang="en-US" dirty="0"/>
          </a:p>
        </p:txBody>
      </p:sp>
    </p:spTree>
    <p:extLst>
      <p:ext uri="{BB962C8B-B14F-4D97-AF65-F5344CB8AC3E}">
        <p14:creationId xmlns:p14="http://schemas.microsoft.com/office/powerpoint/2010/main" val="2670767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D3B421E-C230-4985-A55F-249E4712D5D8}"/>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descr="Click to edit body text styles">
            <a:extLst>
              <a:ext uri="{FF2B5EF4-FFF2-40B4-BE49-F238E27FC236}">
                <a16:creationId xmlns:a16="http://schemas.microsoft.com/office/drawing/2014/main" id="{9F9B1106-1747-47C6-AD4D-1ED872037F9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descr="Click to add date Day/Month/Year">
            <a:extLst>
              <a:ext uri="{FF2B5EF4-FFF2-40B4-BE49-F238E27FC236}">
                <a16:creationId xmlns:a16="http://schemas.microsoft.com/office/drawing/2014/main" id="{EE6605EE-6C12-4B09-B328-5FC771964EB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a:p>
        </p:txBody>
      </p:sp>
      <p:sp>
        <p:nvSpPr>
          <p:cNvPr id="5" name="Footer Placeholder 4" descr="Click to add a footer">
            <a:extLst>
              <a:ext uri="{FF2B5EF4-FFF2-40B4-BE49-F238E27FC236}">
                <a16:creationId xmlns:a16="http://schemas.microsoft.com/office/drawing/2014/main" id="{39B7F1C5-E024-4AB0-B408-32F5C1A10AB0}"/>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6" name="Slide Number Placeholder 5" descr="Click to add page number">
            <a:extLst>
              <a:ext uri="{FF2B5EF4-FFF2-40B4-BE49-F238E27FC236}">
                <a16:creationId xmlns:a16="http://schemas.microsoft.com/office/drawing/2014/main" id="{59489FD8-71FE-4137-8FE6-DC2A193CC355}"/>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dirty="0"/>
          </a:p>
        </p:txBody>
      </p:sp>
    </p:spTree>
    <p:extLst>
      <p:ext uri="{BB962C8B-B14F-4D97-AF65-F5344CB8AC3E}">
        <p14:creationId xmlns:p14="http://schemas.microsoft.com/office/powerpoint/2010/main" val="1748171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E085695-8E0F-403A-9CD7-62C032F7690D}"/>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descr="Click to edit body text styles on the left side of slide">
            <a:extLst>
              <a:ext uri="{FF2B5EF4-FFF2-40B4-BE49-F238E27FC236}">
                <a16:creationId xmlns:a16="http://schemas.microsoft.com/office/drawing/2014/main" id="{FC05A9F9-AE68-4F94-9E5E-068EE37349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descr="Click to edit body text styles on the right side of slide">
            <a:extLst>
              <a:ext uri="{FF2B5EF4-FFF2-40B4-BE49-F238E27FC236}">
                <a16:creationId xmlns:a16="http://schemas.microsoft.com/office/drawing/2014/main" id="{C93A7560-CAFD-4E61-95FB-BDA485201B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descr="Click to add date Day/Month/Year">
            <a:extLst>
              <a:ext uri="{FF2B5EF4-FFF2-40B4-BE49-F238E27FC236}">
                <a16:creationId xmlns:a16="http://schemas.microsoft.com/office/drawing/2014/main" id="{99DDD9F1-1A2C-48B2-B5C9-C73A7289C32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dirty="0"/>
          </a:p>
        </p:txBody>
      </p:sp>
      <p:sp>
        <p:nvSpPr>
          <p:cNvPr id="6" name="Footer Placeholder 5" descr="Click to add a footer">
            <a:extLst>
              <a:ext uri="{FF2B5EF4-FFF2-40B4-BE49-F238E27FC236}">
                <a16:creationId xmlns:a16="http://schemas.microsoft.com/office/drawing/2014/main" id="{6B3D520C-6BAD-40E9-A2B0-8BFA83635E11}"/>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7" name="Slide Number Placeholder 6" descr="Click to add page number">
            <a:extLst>
              <a:ext uri="{FF2B5EF4-FFF2-40B4-BE49-F238E27FC236}">
                <a16:creationId xmlns:a16="http://schemas.microsoft.com/office/drawing/2014/main" id="{6E604E87-51E9-4833-AA93-39FB9ED72B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93220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15C9467-6CA3-4111-A4AE-FFD0F459C1D4}"/>
              </a:ext>
            </a:extLst>
          </p:cNvPr>
          <p:cNvSpPr>
            <a:spLocks noGrp="1"/>
          </p:cNvSpPr>
          <p:nvPr>
            <p:ph type="title"/>
          </p:nvPr>
        </p:nvSpPr>
        <p:spPr>
          <a:xfrm>
            <a:off x="839788" y="365125"/>
            <a:ext cx="10515600" cy="1325563"/>
          </a:xfrm>
        </p:spPr>
        <p:txBody>
          <a:bodyPr/>
          <a:lstStyle/>
          <a:p>
            <a:r>
              <a:rPr lang="en-US" dirty="0"/>
              <a:t>Click to edit Master title style</a:t>
            </a:r>
            <a:endParaRPr lang="en-AU" dirty="0"/>
          </a:p>
        </p:txBody>
      </p:sp>
      <p:sp>
        <p:nvSpPr>
          <p:cNvPr id="3" name="Text Placeholder 2" descr="Click to edit subheading style on the left hand side of slide">
            <a:extLst>
              <a:ext uri="{FF2B5EF4-FFF2-40B4-BE49-F238E27FC236}">
                <a16:creationId xmlns:a16="http://schemas.microsoft.com/office/drawing/2014/main" id="{CE09CDFA-8C89-4FC7-83CB-4B6BD3F03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descr="Click to edit body text styles on the left side of slide">
            <a:extLst>
              <a:ext uri="{FF2B5EF4-FFF2-40B4-BE49-F238E27FC236}">
                <a16:creationId xmlns:a16="http://schemas.microsoft.com/office/drawing/2014/main" id="{27C0D324-2CEE-48D7-AB8D-9EB56FF323B2}"/>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descr="Click to edit subheading style on the right hand side of slide">
            <a:extLst>
              <a:ext uri="{FF2B5EF4-FFF2-40B4-BE49-F238E27FC236}">
                <a16:creationId xmlns:a16="http://schemas.microsoft.com/office/drawing/2014/main" id="{535C84E4-E747-422F-823D-ABB103E226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descr="Click to edit body text styles on the right side of slide">
            <a:extLst>
              <a:ext uri="{FF2B5EF4-FFF2-40B4-BE49-F238E27FC236}">
                <a16:creationId xmlns:a16="http://schemas.microsoft.com/office/drawing/2014/main" id="{B06CBDB2-558E-4410-815E-BC17CE86EE31}"/>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descr="Click to add date Day/Month/Year">
            <a:extLst>
              <a:ext uri="{FF2B5EF4-FFF2-40B4-BE49-F238E27FC236}">
                <a16:creationId xmlns:a16="http://schemas.microsoft.com/office/drawing/2014/main" id="{7BD73ABA-F022-4A2D-BC50-6EFA1A189B4A}"/>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a:p>
        </p:txBody>
      </p:sp>
      <p:sp>
        <p:nvSpPr>
          <p:cNvPr id="8" name="Footer Placeholder 7" descr="Click to add a footer">
            <a:extLst>
              <a:ext uri="{FF2B5EF4-FFF2-40B4-BE49-F238E27FC236}">
                <a16:creationId xmlns:a16="http://schemas.microsoft.com/office/drawing/2014/main" id="{0119AFDB-C42E-463D-B00B-B7C3F2C195ED}"/>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9" name="Slide Number Placeholder 8" descr="Click to add page number">
            <a:extLst>
              <a:ext uri="{FF2B5EF4-FFF2-40B4-BE49-F238E27FC236}">
                <a16:creationId xmlns:a16="http://schemas.microsoft.com/office/drawing/2014/main" id="{3508F5CF-1000-4107-8B86-354403242C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2214800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CB7D6A8-8593-4C21-938E-8349B6D2FBE3}"/>
              </a:ext>
            </a:extLst>
          </p:cNvPr>
          <p:cNvSpPr>
            <a:spLocks noGrp="1"/>
          </p:cNvSpPr>
          <p:nvPr>
            <p:ph type="title"/>
          </p:nvPr>
        </p:nvSpPr>
        <p:spPr/>
        <p:txBody>
          <a:bodyPr/>
          <a:lstStyle/>
          <a:p>
            <a:r>
              <a:rPr lang="en-US" dirty="0"/>
              <a:t>Click to edit Master title style</a:t>
            </a:r>
            <a:endParaRPr lang="en-AU" dirty="0"/>
          </a:p>
        </p:txBody>
      </p:sp>
      <p:sp>
        <p:nvSpPr>
          <p:cNvPr id="3" name="Date Placeholder 2" descr="Click to add date Day/Month/Year">
            <a:extLst>
              <a:ext uri="{FF2B5EF4-FFF2-40B4-BE49-F238E27FC236}">
                <a16:creationId xmlns:a16="http://schemas.microsoft.com/office/drawing/2014/main" id="{3F9A56A4-BCFE-444A-B799-3003156ECF65}"/>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dirty="0"/>
          </a:p>
        </p:txBody>
      </p:sp>
      <p:sp>
        <p:nvSpPr>
          <p:cNvPr id="4" name="Footer Placeholder 3" descr="Click to add a footer">
            <a:extLst>
              <a:ext uri="{FF2B5EF4-FFF2-40B4-BE49-F238E27FC236}">
                <a16:creationId xmlns:a16="http://schemas.microsoft.com/office/drawing/2014/main" id="{33661598-FDFF-4254-A4A3-B4A979362993}"/>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5" name="Slide Number Placeholder 4" descr="Click to add page number">
            <a:extLst>
              <a:ext uri="{FF2B5EF4-FFF2-40B4-BE49-F238E27FC236}">
                <a16:creationId xmlns:a16="http://schemas.microsoft.com/office/drawing/2014/main" id="{FF24BB6E-0C9C-4308-81D1-8B331EC18F2D}"/>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3781294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3" name="Picture Placeholder 2" descr="Click icon to add pictur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35960497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1745549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dirty="0"/>
              <a:t>Click to edit Master title style</a:t>
            </a:r>
            <a:endParaRPr lang="en-US" dirty="0"/>
          </a:p>
        </p:txBody>
      </p:sp>
    </p:spTree>
    <p:extLst>
      <p:ext uri="{BB962C8B-B14F-4D97-AF65-F5344CB8AC3E}">
        <p14:creationId xmlns:p14="http://schemas.microsoft.com/office/powerpoint/2010/main" val="1716589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3" name="Picture Placeholder 2" descr="Click icon to add pictur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9885878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dirty="0"/>
              <a:t>Click to edit</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2440452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2259148" y="-16679"/>
            <a:ext cx="5763303" cy="6208123"/>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5011455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2"/>
          <a:srcRect/>
          <a:stretch/>
        </p:blipFill>
        <p:spPr>
          <a:xfrm>
            <a:off x="304630" y="526455"/>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a:t>Click to edit Master title style</a:t>
            </a:r>
            <a:endParaRPr lang="en-US" dirty="0"/>
          </a:p>
        </p:txBody>
      </p:sp>
    </p:spTree>
    <p:extLst>
      <p:ext uri="{BB962C8B-B14F-4D97-AF65-F5344CB8AC3E}">
        <p14:creationId xmlns:p14="http://schemas.microsoft.com/office/powerpoint/2010/main" val="14983526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 Title and content">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8" name="Text Placeholder 7"/>
          <p:cNvSpPr>
            <a:spLocks noGrp="1"/>
          </p:cNvSpPr>
          <p:nvPr>
            <p:ph type="body" idx="10"/>
          </p:nvPr>
        </p:nvSpPr>
        <p:spPr>
          <a:xfrm>
            <a:off x="624417" y="1509185"/>
            <a:ext cx="10945283" cy="4127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9606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D3B421E-C230-4985-A55F-249E4712D5D8}"/>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9F9B1106-1747-47C6-AD4D-1ED872037F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descr="Click to add date Day/Month/Year">
            <a:extLst>
              <a:ext uri="{FF2B5EF4-FFF2-40B4-BE49-F238E27FC236}">
                <a16:creationId xmlns:a16="http://schemas.microsoft.com/office/drawing/2014/main" id="{EE6605EE-6C12-4B09-B328-5FC771964EB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a:p>
        </p:txBody>
      </p:sp>
      <p:sp>
        <p:nvSpPr>
          <p:cNvPr id="5" name="Footer Placeholder 4" descr="Click to add a footer">
            <a:extLst>
              <a:ext uri="{FF2B5EF4-FFF2-40B4-BE49-F238E27FC236}">
                <a16:creationId xmlns:a16="http://schemas.microsoft.com/office/drawing/2014/main" id="{39B7F1C5-E024-4AB0-B408-32F5C1A10AB0}"/>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6" name="Slide Number Placeholder 5" descr="Click to add page number">
            <a:extLst>
              <a:ext uri="{FF2B5EF4-FFF2-40B4-BE49-F238E27FC236}">
                <a16:creationId xmlns:a16="http://schemas.microsoft.com/office/drawing/2014/main" id="{59489FD8-71FE-4137-8FE6-DC2A193CC355}"/>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1263216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E085695-8E0F-403A-9CD7-62C032F7690D}"/>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descr="Click to edit body text styles on the left side of slide">
            <a:extLst>
              <a:ext uri="{FF2B5EF4-FFF2-40B4-BE49-F238E27FC236}">
                <a16:creationId xmlns:a16="http://schemas.microsoft.com/office/drawing/2014/main" id="{FC05A9F9-AE68-4F94-9E5E-068EE37349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descr="Click to edit body text styles on the right side of slide">
            <a:extLst>
              <a:ext uri="{FF2B5EF4-FFF2-40B4-BE49-F238E27FC236}">
                <a16:creationId xmlns:a16="http://schemas.microsoft.com/office/drawing/2014/main" id="{C93A7560-CAFD-4E61-95FB-BDA485201B26}"/>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descr="Click to add date Day/Month/Year">
            <a:extLst>
              <a:ext uri="{FF2B5EF4-FFF2-40B4-BE49-F238E27FC236}">
                <a16:creationId xmlns:a16="http://schemas.microsoft.com/office/drawing/2014/main" id="{99DDD9F1-1A2C-48B2-B5C9-C73A7289C32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a:p>
        </p:txBody>
      </p:sp>
      <p:sp>
        <p:nvSpPr>
          <p:cNvPr id="6" name="Footer Placeholder 5" descr="Click to add a footer">
            <a:extLst>
              <a:ext uri="{FF2B5EF4-FFF2-40B4-BE49-F238E27FC236}">
                <a16:creationId xmlns:a16="http://schemas.microsoft.com/office/drawing/2014/main" id="{6B3D520C-6BAD-40E9-A2B0-8BFA83635E11}"/>
              </a:ext>
            </a:extLst>
          </p:cNvPr>
          <p:cNvSpPr>
            <a:spLocks noGrp="1"/>
          </p:cNvSpPr>
          <p:nvPr>
            <p:ph type="ftr" sz="quarter" idx="11"/>
          </p:nvPr>
        </p:nvSpPr>
        <p:spPr/>
        <p:txBody>
          <a:bodyPr/>
          <a:lstStyle>
            <a:lvl1pPr>
              <a:defRPr>
                <a:solidFill>
                  <a:schemeClr val="tx1"/>
                </a:solidFill>
              </a:defRPr>
            </a:lvl1pPr>
          </a:lstStyle>
          <a:p>
            <a:endParaRPr lang="en-AU"/>
          </a:p>
        </p:txBody>
      </p:sp>
      <p:sp>
        <p:nvSpPr>
          <p:cNvPr id="7" name="Slide Number Placeholder 6" descr="Click to add page number">
            <a:extLst>
              <a:ext uri="{FF2B5EF4-FFF2-40B4-BE49-F238E27FC236}">
                <a16:creationId xmlns:a16="http://schemas.microsoft.com/office/drawing/2014/main" id="{6E604E87-51E9-4833-AA93-39FB9ED72B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13963237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15C9467-6CA3-4111-A4AE-FFD0F459C1D4}"/>
              </a:ext>
            </a:extLst>
          </p:cNvPr>
          <p:cNvSpPr>
            <a:spLocks noGrp="1"/>
          </p:cNvSpPr>
          <p:nvPr>
            <p:ph type="title"/>
          </p:nvPr>
        </p:nvSpPr>
        <p:spPr>
          <a:xfrm>
            <a:off x="839788" y="365125"/>
            <a:ext cx="10515600" cy="1325563"/>
          </a:xfrm>
        </p:spPr>
        <p:txBody>
          <a:bodyPr/>
          <a:lstStyle/>
          <a:p>
            <a:r>
              <a:rPr lang="en-US" dirty="0"/>
              <a:t>Click to edit Master title style</a:t>
            </a:r>
            <a:endParaRPr lang="en-AU" dirty="0"/>
          </a:p>
        </p:txBody>
      </p:sp>
      <p:sp>
        <p:nvSpPr>
          <p:cNvPr id="3" name="Text Placeholder 2" descr="Click to edit subheading style on the left hand side of slide">
            <a:extLst>
              <a:ext uri="{FF2B5EF4-FFF2-40B4-BE49-F238E27FC236}">
                <a16:creationId xmlns:a16="http://schemas.microsoft.com/office/drawing/2014/main" id="{CE09CDFA-8C89-4FC7-83CB-4B6BD3F03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7C0D324-2CEE-48D7-AB8D-9EB56FF323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descr="Click to edit subheading style on the right hand side of slide">
            <a:extLst>
              <a:ext uri="{FF2B5EF4-FFF2-40B4-BE49-F238E27FC236}">
                <a16:creationId xmlns:a16="http://schemas.microsoft.com/office/drawing/2014/main" id="{535C84E4-E747-422F-823D-ABB103E226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06CBDB2-558E-4410-815E-BC17CE86EE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descr="Click to add date Day/Month/Year">
            <a:extLst>
              <a:ext uri="{FF2B5EF4-FFF2-40B4-BE49-F238E27FC236}">
                <a16:creationId xmlns:a16="http://schemas.microsoft.com/office/drawing/2014/main" id="{7BD73ABA-F022-4A2D-BC50-6EFA1A189B4A}"/>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a:p>
        </p:txBody>
      </p:sp>
      <p:sp>
        <p:nvSpPr>
          <p:cNvPr id="8" name="Footer Placeholder 7" descr="Click to add a footer">
            <a:extLst>
              <a:ext uri="{FF2B5EF4-FFF2-40B4-BE49-F238E27FC236}">
                <a16:creationId xmlns:a16="http://schemas.microsoft.com/office/drawing/2014/main" id="{0119AFDB-C42E-463D-B00B-B7C3F2C195ED}"/>
              </a:ext>
            </a:extLst>
          </p:cNvPr>
          <p:cNvSpPr>
            <a:spLocks noGrp="1"/>
          </p:cNvSpPr>
          <p:nvPr>
            <p:ph type="ftr" sz="quarter" idx="11"/>
          </p:nvPr>
        </p:nvSpPr>
        <p:spPr/>
        <p:txBody>
          <a:bodyPr/>
          <a:lstStyle>
            <a:lvl1pPr>
              <a:defRPr>
                <a:solidFill>
                  <a:schemeClr val="tx1"/>
                </a:solidFill>
              </a:defRPr>
            </a:lvl1pPr>
          </a:lstStyle>
          <a:p>
            <a:endParaRPr lang="en-AU"/>
          </a:p>
        </p:txBody>
      </p:sp>
      <p:sp>
        <p:nvSpPr>
          <p:cNvPr id="9" name="Slide Number Placeholder 8" descr="Click to add page number">
            <a:extLst>
              <a:ext uri="{FF2B5EF4-FFF2-40B4-BE49-F238E27FC236}">
                <a16:creationId xmlns:a16="http://schemas.microsoft.com/office/drawing/2014/main" id="{3508F5CF-1000-4107-8B86-354403242C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dirty="0"/>
          </a:p>
        </p:txBody>
      </p:sp>
    </p:spTree>
    <p:extLst>
      <p:ext uri="{BB962C8B-B14F-4D97-AF65-F5344CB8AC3E}">
        <p14:creationId xmlns:p14="http://schemas.microsoft.com/office/powerpoint/2010/main" val="37077420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CB7D6A8-8593-4C21-938E-8349B6D2FBE3}"/>
              </a:ext>
            </a:extLst>
          </p:cNvPr>
          <p:cNvSpPr>
            <a:spLocks noGrp="1"/>
          </p:cNvSpPr>
          <p:nvPr>
            <p:ph type="title"/>
          </p:nvPr>
        </p:nvSpPr>
        <p:spPr/>
        <p:txBody>
          <a:bodyPr/>
          <a:lstStyle/>
          <a:p>
            <a:r>
              <a:rPr lang="en-US" dirty="0"/>
              <a:t>Click to edit Master title style</a:t>
            </a:r>
            <a:endParaRPr lang="en-AU" dirty="0"/>
          </a:p>
        </p:txBody>
      </p:sp>
      <p:sp>
        <p:nvSpPr>
          <p:cNvPr id="3" name="Date Placeholder 2" descr="Click to add date Day/Month/Year">
            <a:extLst>
              <a:ext uri="{FF2B5EF4-FFF2-40B4-BE49-F238E27FC236}">
                <a16:creationId xmlns:a16="http://schemas.microsoft.com/office/drawing/2014/main" id="{3F9A56A4-BCFE-444A-B799-3003156ECF65}"/>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25/9/2026</a:t>
            </a:fld>
            <a:endParaRPr lang="en-AU"/>
          </a:p>
        </p:txBody>
      </p:sp>
      <p:sp>
        <p:nvSpPr>
          <p:cNvPr id="4" name="Footer Placeholder 3" descr="Click to add a footer">
            <a:extLst>
              <a:ext uri="{FF2B5EF4-FFF2-40B4-BE49-F238E27FC236}">
                <a16:creationId xmlns:a16="http://schemas.microsoft.com/office/drawing/2014/main" id="{33661598-FDFF-4254-A4A3-B4A979362993}"/>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5" name="Slide Number Placeholder 4" descr="Click to add page number">
            <a:extLst>
              <a:ext uri="{FF2B5EF4-FFF2-40B4-BE49-F238E27FC236}">
                <a16:creationId xmlns:a16="http://schemas.microsoft.com/office/drawing/2014/main" id="{FF24BB6E-0C9C-4308-81D1-8B331EC18F2D}"/>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dirty="0"/>
          </a:p>
        </p:txBody>
      </p:sp>
    </p:spTree>
    <p:extLst>
      <p:ext uri="{BB962C8B-B14F-4D97-AF65-F5344CB8AC3E}">
        <p14:creationId xmlns:p14="http://schemas.microsoft.com/office/powerpoint/2010/main" val="39973841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8903AC5B-4BEF-3F81-2082-0A3885418190}"/>
              </a:ext>
            </a:extLst>
          </p:cNvPr>
          <p:cNvPicPr>
            <a:picLocks noChangeAspect="1"/>
          </p:cNvPicPr>
          <p:nvPr userDrawn="1"/>
        </p:nvPicPr>
        <p:blipFill rotWithShape="1">
          <a:blip r:embed="rId2">
            <a:alphaModFix amt="70000"/>
          </a:blip>
          <a:srcRect t="5321" r="1116" b="5321"/>
          <a:stretch/>
        </p:blipFill>
        <p:spPr>
          <a:xfrm>
            <a:off x="4339800" y="1"/>
            <a:ext cx="7045376" cy="6858000"/>
          </a:xfrm>
          <a:prstGeom prst="rect">
            <a:avLst/>
          </a:prstGeom>
        </p:spPr>
      </p:pic>
      <p:sp>
        <p:nvSpPr>
          <p:cNvPr id="10" name="Title Placeholder 1" descr="Click to edit master title style&#10;">
            <a:extLst>
              <a:ext uri="{FF2B5EF4-FFF2-40B4-BE49-F238E27FC236}">
                <a16:creationId xmlns:a16="http://schemas.microsoft.com/office/drawing/2014/main" id="{86AF8517-E0F0-4998-8AA8-25A0DD8EF33A}"/>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11" name="Text Placeholder 2" descr="Click to add secondary details&#10;">
            <a:extLst>
              <a:ext uri="{FF2B5EF4-FFF2-40B4-BE49-F238E27FC236}">
                <a16:creationId xmlns:a16="http://schemas.microsoft.com/office/drawing/2014/main" id="{D34C583A-86D7-4AD9-912C-AA86DC354559}"/>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1819690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434031" y="-748389"/>
            <a:ext cx="7756149" cy="8354779"/>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1749104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Lst>
          </p:cNvPr>
          <p:cNvSpPr/>
          <p:nvPr userDrawn="1"/>
        </p:nvSpPr>
        <p:spPr>
          <a:xfrm>
            <a:off x="1" y="1"/>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7" name="Picture 6" descr="Shape, arrow&#10;&#10;Description automatically generated">
            <a:extLst>
              <a:ext uri="{FF2B5EF4-FFF2-40B4-BE49-F238E27FC236}">
                <a16:creationId xmlns:a16="http://schemas.microsoft.com/office/drawing/2014/main" id="{06AA350A-B2F4-79AE-53AE-78E33FFD6C1F}"/>
              </a:ext>
            </a:extLst>
          </p:cNvPr>
          <p:cNvPicPr>
            <a:picLocks noChangeAspect="1"/>
          </p:cNvPicPr>
          <p:nvPr userDrawn="1"/>
        </p:nvPicPr>
        <p:blipFill>
          <a:blip r:embed="rId2"/>
          <a:stretch>
            <a:fillRect/>
          </a:stretch>
        </p:blipFill>
        <p:spPr>
          <a:xfrm rot="2894683">
            <a:off x="1253302" y="-398755"/>
            <a:ext cx="4736592" cy="6444871"/>
          </a:xfrm>
          <a:prstGeom prst="rect">
            <a:avLst/>
          </a:prstGeom>
        </p:spPr>
      </p:pic>
      <p:sp>
        <p:nvSpPr>
          <p:cNvPr id="3" name="Picture Placeholder 2" descr="Click icon to add pictur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87B7DB84-DBF6-43D5-A225-64A86E32A4E9}"/>
              </a:ext>
            </a:extLst>
          </p:cNvPr>
          <p:cNvPicPr>
            <a:picLocks noChangeAspect="1"/>
          </p:cNvPicPr>
          <p:nvPr userDrawn="1"/>
        </p:nvPicPr>
        <p:blipFill>
          <a:blip r:embed="rId3"/>
          <a:srcRect/>
          <a:stretch/>
        </p:blipFill>
        <p:spPr>
          <a:xfrm>
            <a:off x="412071" y="5320585"/>
            <a:ext cx="1188000" cy="1240241"/>
          </a:xfrm>
          <a:prstGeom prst="rect">
            <a:avLst/>
          </a:prstGeom>
        </p:spPr>
      </p:pic>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30507000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dirty="0"/>
              <a:t>Click to edit</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4605044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6" name="Text Placeholder 2" descr="Click to add secondary details&#10;">
            <a:extLst>
              <a:ext uri="{FF2B5EF4-FFF2-40B4-BE49-F238E27FC236}">
                <a16:creationId xmlns:a16="http://schemas.microsoft.com/office/drawing/2014/main" id="{D58515C2-9BB5-4C9A-BBC5-7F4A491DD6EC}"/>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5" name="Title Placeholder 1" descr="Click to edit master title style&#10;">
            <a:extLst>
              <a:ext uri="{FF2B5EF4-FFF2-40B4-BE49-F238E27FC236}">
                <a16:creationId xmlns:a16="http://schemas.microsoft.com/office/drawing/2014/main" id="{2D2519EB-A5E4-4600-B620-DAE568D00CAB}"/>
              </a:ext>
            </a:extLst>
          </p:cNvPr>
          <p:cNvSpPr>
            <a:spLocks noGrp="1"/>
          </p:cNvSpPr>
          <p:nvPr>
            <p:ph type="title"/>
          </p:nvPr>
        </p:nvSpPr>
        <p:spPr>
          <a:xfrm>
            <a:off x="410400" y="3211200"/>
            <a:ext cx="11268000" cy="1785600"/>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35051293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03B341F3-514D-F42F-D0AA-C75B36DDF590}"/>
              </a:ext>
            </a:extLst>
          </p:cNvPr>
          <p:cNvPicPr>
            <a:picLocks noChangeAspect="1"/>
          </p:cNvPicPr>
          <p:nvPr userDrawn="1"/>
        </p:nvPicPr>
        <p:blipFill>
          <a:blip r:embed="rId2"/>
          <a:stretch>
            <a:fillRect/>
          </a:stretch>
        </p:blipFill>
        <p:spPr>
          <a:xfrm rot="13685278">
            <a:off x="659043" y="1428646"/>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3"/>
          <a:srcRect/>
          <a:stretch/>
        </p:blipFill>
        <p:spPr>
          <a:xfrm>
            <a:off x="304630" y="526455"/>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a:t>Click to edit Master title style</a:t>
            </a:r>
            <a:endParaRPr lang="en-US" dirty="0"/>
          </a:p>
        </p:txBody>
      </p:sp>
    </p:spTree>
    <p:extLst>
      <p:ext uri="{BB962C8B-B14F-4D97-AF65-F5344CB8AC3E}">
        <p14:creationId xmlns:p14="http://schemas.microsoft.com/office/powerpoint/2010/main" val="12186856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434031" y="-748389"/>
            <a:ext cx="7756149" cy="8354779"/>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838487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Lst>
          </p:cNvPr>
          <p:cNvSpPr/>
          <p:nvPr userDrawn="1"/>
        </p:nvSpPr>
        <p:spPr>
          <a:xfrm>
            <a:off x="1" y="1"/>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7" name="Picture 6" descr="Shape, arrow&#10;&#10;Description automatically generated">
            <a:extLst>
              <a:ext uri="{FF2B5EF4-FFF2-40B4-BE49-F238E27FC236}">
                <a16:creationId xmlns:a16="http://schemas.microsoft.com/office/drawing/2014/main" id="{06AA350A-B2F4-79AE-53AE-78E33FFD6C1F}"/>
              </a:ext>
            </a:extLst>
          </p:cNvPr>
          <p:cNvPicPr>
            <a:picLocks noChangeAspect="1"/>
          </p:cNvPicPr>
          <p:nvPr userDrawn="1"/>
        </p:nvPicPr>
        <p:blipFill>
          <a:blip r:embed="rId2"/>
          <a:stretch>
            <a:fillRect/>
          </a:stretch>
        </p:blipFill>
        <p:spPr>
          <a:xfrm rot="2894683">
            <a:off x="1253302" y="-398755"/>
            <a:ext cx="4736592" cy="6444871"/>
          </a:xfrm>
          <a:prstGeom prst="rect">
            <a:avLst/>
          </a:prstGeom>
        </p:spPr>
      </p:pic>
      <p:sp>
        <p:nvSpPr>
          <p:cNvPr id="3" name="Picture Placeholder 2" descr="Click icon to add pictur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87B7DB84-DBF6-43D5-A225-64A86E32A4E9}"/>
              </a:ext>
            </a:extLst>
          </p:cNvPr>
          <p:cNvPicPr>
            <a:picLocks noChangeAspect="1"/>
          </p:cNvPicPr>
          <p:nvPr userDrawn="1"/>
        </p:nvPicPr>
        <p:blipFill>
          <a:blip r:embed="rId3"/>
          <a:srcRect/>
          <a:stretch/>
        </p:blipFill>
        <p:spPr>
          <a:xfrm>
            <a:off x="412071" y="5320585"/>
            <a:ext cx="1188000" cy="1240241"/>
          </a:xfrm>
          <a:prstGeom prst="rect">
            <a:avLst/>
          </a:prstGeom>
        </p:spPr>
      </p:pic>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10228204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dirty="0"/>
              <a:t>Click to edit</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15938138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03B341F3-514D-F42F-D0AA-C75B36DDF590}"/>
              </a:ext>
            </a:extLst>
          </p:cNvPr>
          <p:cNvPicPr>
            <a:picLocks noChangeAspect="1"/>
          </p:cNvPicPr>
          <p:nvPr userDrawn="1"/>
        </p:nvPicPr>
        <p:blipFill>
          <a:blip r:embed="rId2"/>
          <a:stretch>
            <a:fillRect/>
          </a:stretch>
        </p:blipFill>
        <p:spPr>
          <a:xfrm rot="13685278">
            <a:off x="659043" y="1428646"/>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3"/>
          <a:srcRect/>
          <a:stretch/>
        </p:blipFill>
        <p:spPr>
          <a:xfrm>
            <a:off x="304630" y="526455"/>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a:t>Click to edit Master title style</a:t>
            </a:r>
            <a:endParaRPr lang="en-US" dirty="0"/>
          </a:p>
        </p:txBody>
      </p:sp>
    </p:spTree>
    <p:extLst>
      <p:ext uri="{BB962C8B-B14F-4D97-AF65-F5344CB8AC3E}">
        <p14:creationId xmlns:p14="http://schemas.microsoft.com/office/powerpoint/2010/main" val="14788036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Lst>
          </p:cNvPr>
          <p:cNvSpPr/>
          <p:nvPr userDrawn="1"/>
        </p:nvSpPr>
        <p:spPr>
          <a:xfrm>
            <a:off x="1" y="1"/>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7" name="Picture 6" descr="Shape, arrow&#10;&#10;Description automatically generated">
            <a:extLst>
              <a:ext uri="{FF2B5EF4-FFF2-40B4-BE49-F238E27FC236}">
                <a16:creationId xmlns:a16="http://schemas.microsoft.com/office/drawing/2014/main" id="{06AA350A-B2F4-79AE-53AE-78E33FFD6C1F}"/>
              </a:ext>
            </a:extLst>
          </p:cNvPr>
          <p:cNvPicPr>
            <a:picLocks noChangeAspect="1"/>
          </p:cNvPicPr>
          <p:nvPr userDrawn="1"/>
        </p:nvPicPr>
        <p:blipFill>
          <a:blip r:embed="rId2"/>
          <a:stretch>
            <a:fillRect/>
          </a:stretch>
        </p:blipFill>
        <p:spPr>
          <a:xfrm rot="2894683">
            <a:off x="1253302" y="-398755"/>
            <a:ext cx="4736592" cy="6444871"/>
          </a:xfrm>
          <a:prstGeom prst="rect">
            <a:avLst/>
          </a:prstGeom>
        </p:spPr>
      </p:pic>
      <p:sp>
        <p:nvSpPr>
          <p:cNvPr id="3" name="Picture Placeholder 2" descr="Click icon to add pictur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87B7DB84-DBF6-43D5-A225-64A86E32A4E9}"/>
              </a:ext>
            </a:extLst>
          </p:cNvPr>
          <p:cNvPicPr>
            <a:picLocks noChangeAspect="1"/>
          </p:cNvPicPr>
          <p:nvPr userDrawn="1"/>
        </p:nvPicPr>
        <p:blipFill>
          <a:blip r:embed="rId3"/>
          <a:srcRect/>
          <a:stretch/>
        </p:blipFill>
        <p:spPr>
          <a:xfrm>
            <a:off x="412071" y="5320585"/>
            <a:ext cx="1188000" cy="1240241"/>
          </a:xfrm>
          <a:prstGeom prst="rect">
            <a:avLst/>
          </a:prstGeom>
        </p:spPr>
      </p:pic>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18841172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dirty="0"/>
              <a:t>Click to edit</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15077323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434031" y="-748389"/>
            <a:ext cx="7756149" cy="8354779"/>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23168829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03B341F3-514D-F42F-D0AA-C75B36DDF590}"/>
              </a:ext>
            </a:extLst>
          </p:cNvPr>
          <p:cNvPicPr>
            <a:picLocks noChangeAspect="1"/>
          </p:cNvPicPr>
          <p:nvPr userDrawn="1"/>
        </p:nvPicPr>
        <p:blipFill>
          <a:blip r:embed="rId2"/>
          <a:stretch>
            <a:fillRect/>
          </a:stretch>
        </p:blipFill>
        <p:spPr>
          <a:xfrm rot="13685278">
            <a:off x="659043" y="1428646"/>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3"/>
          <a:srcRect/>
          <a:stretch/>
        </p:blipFill>
        <p:spPr>
          <a:xfrm>
            <a:off x="304630" y="526455"/>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a:t>Click to edit Master title style</a:t>
            </a:r>
            <a:endParaRPr lang="en-US" dirty="0"/>
          </a:p>
        </p:txBody>
      </p:sp>
    </p:spTree>
    <p:extLst>
      <p:ext uri="{BB962C8B-B14F-4D97-AF65-F5344CB8AC3E}">
        <p14:creationId xmlns:p14="http://schemas.microsoft.com/office/powerpoint/2010/main" val="260468458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theme" Target="../theme/theme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slideLayout" Target="../slideLayouts/slideLayout39.xml"/><Relationship Id="rId19" Type="http://schemas.openxmlformats.org/officeDocument/2006/relationships/theme" Target="../theme/theme3.xml"/><Relationship Id="rId2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descr="Click to edit master title style">
            <a:extLst>
              <a:ext uri="{FF2B5EF4-FFF2-40B4-BE49-F238E27FC236}">
                <a16:creationId xmlns:a16="http://schemas.microsoft.com/office/drawing/2014/main" id="{70841D79-9C5E-1449-B506-564E0213A8C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dirty="0"/>
              <a:t>Title goes here</a:t>
            </a:r>
            <a:endParaRPr lang="en-US" dirty="0"/>
          </a:p>
        </p:txBody>
      </p:sp>
      <p:sp>
        <p:nvSpPr>
          <p:cNvPr id="3" name="Text Placeholder 2" descr="Click to add secondary details&#10;">
            <a:extLst>
              <a:ext uri="{FF2B5EF4-FFF2-40B4-BE49-F238E27FC236}">
                <a16:creationId xmlns:a16="http://schemas.microsoft.com/office/drawing/2014/main" id="{4A50093E-B476-CE4A-816B-226988C60D31}"/>
              </a:ext>
            </a:extLst>
          </p:cNvPr>
          <p:cNvSpPr>
            <a:spLocks noGrp="1"/>
          </p:cNvSpPr>
          <p:nvPr>
            <p:ph type="body" idx="1"/>
          </p:nvPr>
        </p:nvSpPr>
        <p:spPr>
          <a:xfrm>
            <a:off x="410400" y="6289200"/>
            <a:ext cx="4730400" cy="370800"/>
          </a:xfrm>
          <a:prstGeom prst="rect">
            <a:avLst/>
          </a:prstGeom>
        </p:spPr>
        <p:txBody>
          <a:bodyPr vert="horz" lIns="91440" tIns="45720" rIns="91440" bIns="45720" rtlCol="0">
            <a:normAutofit/>
          </a:bodyPr>
          <a:lstStyle/>
          <a:p>
            <a:pPr lvl="0"/>
            <a:r>
              <a:rPr lang="en-GB" dirty="0"/>
              <a:t>Click to edit Master text styles</a:t>
            </a:r>
          </a:p>
        </p:txBody>
      </p:sp>
    </p:spTree>
    <p:extLst>
      <p:ext uri="{BB962C8B-B14F-4D97-AF65-F5344CB8AC3E}">
        <p14:creationId xmlns:p14="http://schemas.microsoft.com/office/powerpoint/2010/main" val="1803925614"/>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2" r:id="rId3"/>
    <p:sldLayoutId id="2147483651" r:id="rId4"/>
    <p:sldLayoutId id="2147483653" r:id="rId5"/>
    <p:sldLayoutId id="2147483650" r:id="rId6"/>
    <p:sldLayoutId id="2147483732" r:id="rId7"/>
    <p:sldLayoutId id="2147483762" r:id="rId8"/>
    <p:sldLayoutId id="2147483764" r:id="rId9"/>
  </p:sldLayoutIdLst>
  <p:txStyles>
    <p:titleStyle>
      <a:lvl1pPr marL="0" indent="0" algn="l" defTabSz="914400" rtl="0" eaLnBrk="1" latinLnBrk="0" hangingPunct="1">
        <a:lnSpc>
          <a:spcPct val="100000"/>
        </a:lnSpc>
        <a:spcBef>
          <a:spcPct val="0"/>
        </a:spcBef>
        <a:buNone/>
        <a:defRPr sz="110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descr="Click to edit master title style&#10;">
            <a:extLst>
              <a:ext uri="{FF2B5EF4-FFF2-40B4-BE49-F238E27FC236}">
                <a16:creationId xmlns:a16="http://schemas.microsoft.com/office/drawing/2014/main" id="{8CE664CD-741D-4C8B-81A1-8F813AD195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descr="Click to edit body text styles">
            <a:extLst>
              <a:ext uri="{FF2B5EF4-FFF2-40B4-BE49-F238E27FC236}">
                <a16:creationId xmlns:a16="http://schemas.microsoft.com/office/drawing/2014/main" id="{5BC9109C-5296-411A-BFAE-02503EAE8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127DF911-AF5C-4E26-A571-BA8DB3C794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3090FF-0D07-44EF-BE91-92BA9AB775B9}" type="datetimeFigureOut">
              <a:rPr lang="en-AU" smtClean="0"/>
              <a:t>25/9/2026</a:t>
            </a:fld>
            <a:endParaRPr lang="en-AU"/>
          </a:p>
        </p:txBody>
      </p:sp>
      <p:sp>
        <p:nvSpPr>
          <p:cNvPr id="5" name="Footer Placeholder 4">
            <a:extLst>
              <a:ext uri="{FF2B5EF4-FFF2-40B4-BE49-F238E27FC236}">
                <a16:creationId xmlns:a16="http://schemas.microsoft.com/office/drawing/2014/main" id="{28AD8E53-B55F-4650-ADAB-27193A719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DADCEA8-03AE-46AA-AD1B-6B051BA05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375D7-070A-4959-9224-FB5E66F2B1B3}" type="slidenum">
              <a:rPr lang="en-AU" smtClean="0"/>
              <a:t>‹#›</a:t>
            </a:fld>
            <a:endParaRPr lang="en-AU"/>
          </a:p>
        </p:txBody>
      </p:sp>
      <p:sp>
        <p:nvSpPr>
          <p:cNvPr id="8" name="Rectangle 7">
            <a:extLst>
              <a:ext uri="{FF2B5EF4-FFF2-40B4-BE49-F238E27FC236}">
                <a16:creationId xmlns:a16="http://schemas.microsoft.com/office/drawing/2014/main" id="{FA7CA2B4-C8AB-4F09-B260-BA7609DF079D}"/>
              </a:ext>
            </a:extLst>
          </p:cNvPr>
          <p:cNvSpPr/>
          <p:nvPr userDrawn="1"/>
        </p:nvSpPr>
        <p:spPr>
          <a:xfrm rot="5400000">
            <a:off x="5706290" y="372291"/>
            <a:ext cx="779419" cy="12192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UNSW Sydney Logo">
            <a:extLst>
              <a:ext uri="{FF2B5EF4-FFF2-40B4-BE49-F238E27FC236}">
                <a16:creationId xmlns:a16="http://schemas.microsoft.com/office/drawing/2014/main" id="{84EF7EA2-D124-438C-BF7A-68B3D6878301}"/>
              </a:ext>
            </a:extLst>
          </p:cNvPr>
          <p:cNvPicPr>
            <a:picLocks noChangeAspect="1"/>
          </p:cNvPicPr>
          <p:nvPr userDrawn="1"/>
        </p:nvPicPr>
        <p:blipFill>
          <a:blip r:embed="rId14"/>
          <a:srcRect/>
          <a:stretch/>
        </p:blipFill>
        <p:spPr>
          <a:xfrm>
            <a:off x="11526898" y="6196827"/>
            <a:ext cx="540000" cy="563746"/>
          </a:xfrm>
          <a:prstGeom prst="rect">
            <a:avLst/>
          </a:prstGeom>
        </p:spPr>
      </p:pic>
    </p:spTree>
    <p:extLst>
      <p:ext uri="{BB962C8B-B14F-4D97-AF65-F5344CB8AC3E}">
        <p14:creationId xmlns:p14="http://schemas.microsoft.com/office/powerpoint/2010/main" val="3623885719"/>
      </p:ext>
    </p:extLst>
  </p:cSld>
  <p:clrMap bg1="lt1" tx1="dk1" bg2="lt2" tx2="dk2" accent1="accent1" accent2="accent2" accent3="accent3" accent4="accent4" accent5="accent5" accent6="accent6" hlink="hlink" folHlink="folHlink"/>
  <p:sldLayoutIdLst>
    <p:sldLayoutId id="2147483671" r:id="rId1"/>
    <p:sldLayoutId id="2147483673" r:id="rId2"/>
    <p:sldLayoutId id="2147483674" r:id="rId3"/>
    <p:sldLayoutId id="2147483675" r:id="rId4"/>
    <p:sldLayoutId id="2147483690" r:id="rId5"/>
    <p:sldLayoutId id="2147483691" r:id="rId6"/>
    <p:sldLayoutId id="2147483693" r:id="rId7"/>
    <p:sldLayoutId id="2147483745" r:id="rId8"/>
    <p:sldLayoutId id="2147483746" r:id="rId9"/>
    <p:sldLayoutId id="2147483747" r:id="rId10"/>
    <p:sldLayoutId id="2147483748" r:id="rId11"/>
    <p:sldLayoutId id="2147483765" r:id="rId12"/>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Calibri" panose="020F0502020204030204" pitchFamily="34" charset="0"/>
        <a:buChar char="﻿"/>
        <a:defRPr sz="2800" kern="1200">
          <a:solidFill>
            <a:schemeClr val="tx1"/>
          </a:solidFill>
          <a:latin typeface="+mn-lt"/>
          <a:ea typeface="+mn-ea"/>
          <a:cs typeface="+mn-cs"/>
        </a:defRPr>
      </a:lvl1pPr>
      <a:lvl2pPr marL="230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687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144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602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descr="Click to edit master title style&#10;">
            <a:extLst>
              <a:ext uri="{FF2B5EF4-FFF2-40B4-BE49-F238E27FC236}">
                <a16:creationId xmlns:a16="http://schemas.microsoft.com/office/drawing/2014/main" id="{8CE664CD-741D-4C8B-81A1-8F813AD195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5BC9109C-5296-411A-BFAE-02503EAE8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descr="Click to add date Day/Month/Year">
            <a:extLst>
              <a:ext uri="{FF2B5EF4-FFF2-40B4-BE49-F238E27FC236}">
                <a16:creationId xmlns:a16="http://schemas.microsoft.com/office/drawing/2014/main" id="{127DF911-AF5C-4E26-A571-BA8DB3C794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fld id="{2A3090FF-0D07-44EF-BE91-92BA9AB775B9}" type="datetimeFigureOut">
              <a:rPr lang="en-AU" smtClean="0"/>
              <a:pPr/>
              <a:t>25/9/2026</a:t>
            </a:fld>
            <a:endParaRPr lang="en-AU" dirty="0"/>
          </a:p>
        </p:txBody>
      </p:sp>
      <p:sp>
        <p:nvSpPr>
          <p:cNvPr id="5" name="Footer Placeholder 4" descr="Click to add a footer">
            <a:extLst>
              <a:ext uri="{FF2B5EF4-FFF2-40B4-BE49-F238E27FC236}">
                <a16:creationId xmlns:a16="http://schemas.microsoft.com/office/drawing/2014/main" id="{28AD8E53-B55F-4650-ADAB-27193A719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latin typeface="Arial" panose="020B0604020202020204" pitchFamily="34" charset="0"/>
                <a:cs typeface="Arial" panose="020B0604020202020204" pitchFamily="34" charset="0"/>
              </a:defRPr>
            </a:lvl1pPr>
          </a:lstStyle>
          <a:p>
            <a:endParaRPr lang="en-AU" dirty="0"/>
          </a:p>
        </p:txBody>
      </p:sp>
      <p:sp>
        <p:nvSpPr>
          <p:cNvPr id="6" name="Slide Number Placeholder 5" descr="Click to add page number">
            <a:extLst>
              <a:ext uri="{FF2B5EF4-FFF2-40B4-BE49-F238E27FC236}">
                <a16:creationId xmlns:a16="http://schemas.microsoft.com/office/drawing/2014/main" id="{9DADCEA8-03AE-46AA-AD1B-6B051BA05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Arial" panose="020B0604020202020204" pitchFamily="34" charset="0"/>
                <a:cs typeface="Arial" panose="020B0604020202020204" pitchFamily="34" charset="0"/>
              </a:defRPr>
            </a:lvl1pPr>
          </a:lstStyle>
          <a:p>
            <a:fld id="{009375D7-070A-4959-9224-FB5E66F2B1B3}" type="slidenum">
              <a:rPr lang="en-AU" smtClean="0"/>
              <a:pPr/>
              <a:t>‹#›</a:t>
            </a:fld>
            <a:endParaRPr lang="en-AU"/>
          </a:p>
        </p:txBody>
      </p:sp>
      <p:sp>
        <p:nvSpPr>
          <p:cNvPr id="7" name="Rectangle 6">
            <a:extLst>
              <a:ext uri="{FF2B5EF4-FFF2-40B4-BE49-F238E27FC236}">
                <a16:creationId xmlns:a16="http://schemas.microsoft.com/office/drawing/2014/main" id="{07FD9B66-E5D8-458F-B15F-FCAE5CAD781F}"/>
              </a:ext>
            </a:extLst>
          </p:cNvPr>
          <p:cNvSpPr/>
          <p:nvPr userDrawn="1"/>
        </p:nvSpPr>
        <p:spPr>
          <a:xfrm rot="5400000">
            <a:off x="8353696" y="3019698"/>
            <a:ext cx="6858002" cy="818606"/>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NSW Sydney Logo">
            <a:extLst>
              <a:ext uri="{FF2B5EF4-FFF2-40B4-BE49-F238E27FC236}">
                <a16:creationId xmlns:a16="http://schemas.microsoft.com/office/drawing/2014/main" id="{725B2B7F-7BA2-426B-BEF7-9C26ECD9179C}"/>
              </a:ext>
            </a:extLst>
          </p:cNvPr>
          <p:cNvPicPr>
            <a:picLocks noChangeAspect="1"/>
          </p:cNvPicPr>
          <p:nvPr userDrawn="1"/>
        </p:nvPicPr>
        <p:blipFill>
          <a:blip r:embed="rId20"/>
          <a:srcRect/>
          <a:stretch/>
        </p:blipFill>
        <p:spPr>
          <a:xfrm>
            <a:off x="11526898" y="6196827"/>
            <a:ext cx="540000" cy="563746"/>
          </a:xfrm>
          <a:prstGeom prst="rect">
            <a:avLst/>
          </a:prstGeom>
        </p:spPr>
      </p:pic>
    </p:spTree>
    <p:extLst>
      <p:ext uri="{BB962C8B-B14F-4D97-AF65-F5344CB8AC3E}">
        <p14:creationId xmlns:p14="http://schemas.microsoft.com/office/powerpoint/2010/main" val="2992154541"/>
      </p:ext>
    </p:extLst>
  </p:cSld>
  <p:clrMap bg1="lt1" tx1="dk1" bg2="lt2" tx2="dk2" accent1="accent1" accent2="accent2" accent3="accent3" accent4="accent4" accent5="accent5" accent6="accent6" hlink="hlink" folHlink="folHlink"/>
  <p:sldLayoutIdLst>
    <p:sldLayoutId id="2147483683" r:id="rId1"/>
    <p:sldLayoutId id="2147483685" r:id="rId2"/>
    <p:sldLayoutId id="2147483686" r:id="rId3"/>
    <p:sldLayoutId id="2147483687" r:id="rId4"/>
    <p:sldLayoutId id="2147483694" r:id="rId5"/>
    <p:sldLayoutId id="2147483695" r:id="rId6"/>
    <p:sldLayoutId id="2147483696" r:id="rId7"/>
    <p:sldLayoutId id="2147483697" r:id="rId8"/>
    <p:sldLayoutId id="2147483698" r:id="rId9"/>
    <p:sldLayoutId id="2147483699" r:id="rId10"/>
    <p:sldLayoutId id="2147483712" r:id="rId11"/>
    <p:sldLayoutId id="2147483713" r:id="rId12"/>
    <p:sldLayoutId id="2147483714" r:id="rId13"/>
    <p:sldLayoutId id="2147483715" r:id="rId14"/>
    <p:sldLayoutId id="2147483728" r:id="rId15"/>
    <p:sldLayoutId id="2147483729" r:id="rId16"/>
    <p:sldLayoutId id="2147483730" r:id="rId17"/>
    <p:sldLayoutId id="2147483731" r:id="rId18"/>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Calibri" panose="020F0502020204030204" pitchFamily="34" charset="0"/>
        <a:buChar char="﻿"/>
        <a:defRPr sz="2800" kern="1200">
          <a:solidFill>
            <a:schemeClr val="tx1"/>
          </a:solidFill>
          <a:latin typeface="+mn-lt"/>
          <a:ea typeface="+mn-ea"/>
          <a:cs typeface="+mn-cs"/>
        </a:defRPr>
      </a:lvl1pPr>
      <a:lvl2pPr marL="230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687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144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602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ustomXml" Target="../ink/ink1.xml"/><Relationship Id="rId4" Type="http://schemas.openxmlformats.org/officeDocument/2006/relationships/image" Target="../media/image7.png"/><Relationship Id="rId5" Type="http://schemas.openxmlformats.org/officeDocument/2006/relationships/customXml" Target="../ink/ink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ql-2-dashboard.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ql-2-dashboard.jpg"/><Relationship Id="rId4" Type="http://schemas.openxmlformats.org/officeDocument/2006/relationships/image" Target="../media/ql-3-fix.jpg"/><Relationship Id="rId5" Type="http://schemas.openxmlformats.org/officeDocument/2006/relationships/image" Target="../media/ql-5-agent.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3DB0B4-723F-452D-B6F7-124821BAD925}"/>
              </a:ext>
            </a:extLst>
          </p:cNvPr>
          <p:cNvSpPr>
            <a:spLocks noGrp="1"/>
          </p:cNvSpPr>
          <p:nvPr>
            <p:ph type="title"/>
          </p:nvPr>
        </p:nvSpPr>
        <p:spPr>
          <a:xfrm>
            <a:off x="1369406" y="1505328"/>
            <a:ext cx="7858800" cy="1120785"/>
          </a:xfrm>
        </p:spPr>
        <p:txBody>
          <a:bodyPr/>
          <a:lstStyle/>
          <a:p>
            <a:pPr algn="ctr"/>
            <a:r>
              <a:rPr lang="en-AU" sz="3600" i="1" dirty="0"/>
              <a:t>INFS3605: Information Systems Innovation &amp; Transformation</a:t>
            </a:r>
            <a:br>
              <a:rPr lang="en-AU" sz="3600" dirty="0"/>
            </a:br>
            <a:br>
              <a:rPr lang="en-AU" sz="4800" dirty="0"/>
            </a:br>
            <a:r>
              <a:rPr lang="en-AU" sz="4800" dirty="0"/>
              <a:t>Week 07 · PoC Demo</a:t>
            </a:r>
            <a:br>
              <a:rPr lang="en-AU" sz="3600" dirty="0"/>
            </a:br>
            <a:r>
              <a:rPr lang="en-AU" sz="4400" i="1" dirty="0"/>
              <a:t>QuickLift.ai</a:t>
            </a:r>
            <a:br>
              <a:rPr lang="en-AU" sz="4400" dirty="0"/>
            </a:br>
            <a:endParaRPr lang="en-AU" sz="4400" dirty="0"/>
          </a:p>
        </p:txBody>
      </p:sp>
      <p:grpSp>
        <p:nvGrpSpPr>
          <p:cNvPr id="7" name="Group 6">
            <a:extLst>
              <a:ext uri="{FF2B5EF4-FFF2-40B4-BE49-F238E27FC236}">
                <a16:creationId xmlns:a16="http://schemas.microsoft.com/office/drawing/2014/main" id="{1B37CDB4-E5B1-7A8A-59F0-7EF02A94C258}"/>
              </a:ext>
            </a:extLst>
          </p:cNvPr>
          <p:cNvGrpSpPr/>
          <p:nvPr/>
        </p:nvGrpSpPr>
        <p:grpSpPr>
          <a:xfrm>
            <a:off x="11700628" y="4168317"/>
            <a:ext cx="360" cy="360"/>
            <a:chOff x="11700628" y="4168317"/>
            <a:chExt cx="360" cy="3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3D575B2-115B-21F1-4D40-B2659A37229A}"/>
                    </a:ext>
                  </a:extLst>
                </p14:cNvPr>
                <p14:cNvContentPartPr/>
                <p14:nvPr/>
              </p14:nvContentPartPr>
              <p14:xfrm>
                <a:off x="11700628" y="4168317"/>
                <a:ext cx="360" cy="360"/>
              </p14:xfrm>
            </p:contentPart>
          </mc:Choice>
          <mc:Fallback xmlns="">
            <p:pic>
              <p:nvPicPr>
                <p:cNvPr id="5" name="Ink 4">
                  <a:extLst>
                    <a:ext uri="{FF2B5EF4-FFF2-40B4-BE49-F238E27FC236}">
                      <a16:creationId xmlns:a16="http://schemas.microsoft.com/office/drawing/2014/main" id="{03D575B2-115B-21F1-4D40-B2659A37229A}"/>
                    </a:ext>
                  </a:extLst>
                </p:cNvPr>
                <p:cNvPicPr/>
                <p:nvPr/>
              </p:nvPicPr>
              <p:blipFill>
                <a:blip r:embed="rId4"/>
                <a:stretch>
                  <a:fillRect/>
                </a:stretch>
              </p:blipFill>
              <p:spPr>
                <a:xfrm>
                  <a:off x="11691628" y="415967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6535A8B-5C84-B8F8-4603-3DBAB3D4B055}"/>
                    </a:ext>
                  </a:extLst>
                </p14:cNvPr>
                <p14:cNvContentPartPr/>
                <p14:nvPr/>
              </p14:nvContentPartPr>
              <p14:xfrm>
                <a:off x="11700628" y="4168317"/>
                <a:ext cx="360" cy="360"/>
              </p14:xfrm>
            </p:contentPart>
          </mc:Choice>
          <mc:Fallback xmlns="">
            <p:pic>
              <p:nvPicPr>
                <p:cNvPr id="6" name="Ink 5">
                  <a:extLst>
                    <a:ext uri="{FF2B5EF4-FFF2-40B4-BE49-F238E27FC236}">
                      <a16:creationId xmlns:a16="http://schemas.microsoft.com/office/drawing/2014/main" id="{F6535A8B-5C84-B8F8-4603-3DBAB3D4B055}"/>
                    </a:ext>
                  </a:extLst>
                </p:cNvPr>
                <p:cNvPicPr/>
                <p:nvPr/>
              </p:nvPicPr>
              <p:blipFill>
                <a:blip r:embed="rId4"/>
                <a:stretch>
                  <a:fillRect/>
                </a:stretch>
              </p:blipFill>
              <p:spPr>
                <a:xfrm>
                  <a:off x="11691628" y="4159677"/>
                  <a:ext cx="18000" cy="18000"/>
                </a:xfrm>
                <a:prstGeom prst="rect">
                  <a:avLst/>
                </a:prstGeom>
              </p:spPr>
            </p:pic>
          </mc:Fallback>
        </mc:AlternateContent>
      </p:grpSp>
      <p:sp>
        <p:nvSpPr>
          <p:cNvPr id="8" name="Team details"/>
          <p:cNvSpPr txBox="1"/>
          <p:nvPr/>
        </p:nvSpPr>
        <p:spPr>
          <a:xfrm>
            <a:off x="1369406" y="5486400"/>
            <a:ext cx="7858800" cy="731520"/>
          </a:xfrm>
          <a:prstGeom prst="rect">
            <a:avLst/>
          </a:prstGeom>
          <a:noFill/>
        </p:spPr>
        <p:txBody>
          <a:bodyPr wrap="square" anchor="t" lIns="0" rIns="0" tIns="0" bIns="0">
            <a:spAutoFit/>
          </a:bodyPr>
          <a:lstStyle/>
          <a:p>
            <a:pPr algn="ctr">
              <a:spcAft>
                <a:spcPts val="400"/>
              </a:spcAft>
            </a:pPr>
            <a:r>
              <a:rPr sz="1300" b="0" i="0">
                <a:solidFill>
                  <a:srgbClr val="231F20"/>
                </a:solidFill>
                <a:latin typeface="Arial"/>
              </a:rPr>
              <a:t>W14A-10 · Wednesday 2PM seminar · [Challenge stream]</a:t>
            </a:r>
          </a:p>
          <a:p>
            <a:pPr algn="ctr">
              <a:spcAft>
                <a:spcPts val="400"/>
              </a:spcAft>
            </a:pPr>
            <a:r>
              <a:rPr sz="1300" b="0" i="0">
                <a:solidFill>
                  <a:srgbClr val="231F20"/>
                </a:solidFill>
                <a:latin typeface="Arial"/>
              </a:rPr>
              <a:t>Nicholas Griffith · Aidan Smith · Isaac Ho · Owen Burgher · Dyashothan Kumar</a:t>
            </a:r>
          </a:p>
        </p:txBody>
      </p:sp>
    </p:spTree>
    <p:extLst>
      <p:ext uri="{BB962C8B-B14F-4D97-AF65-F5344CB8AC3E}">
        <p14:creationId xmlns:p14="http://schemas.microsoft.com/office/powerpoint/2010/main" val="1422213002"/>
      </p:ext>
    </p:extLst>
  </p:cSld>
  <p:clrMapOvr>
    <a:masterClrMapping/>
  </p:clrMapOvr>
  <mc:AlternateContent xmlns:mc="http://schemas.openxmlformats.org/markup-compatibility/2006" xmlns:p14="http://schemas.microsoft.com/office/powerpoint/2010/main">
    <mc:Choice Requires="p14">
      <p:transition spd="slow" p14:dur="2000" advTm="31663"/>
    </mc:Choice>
    <mc:Fallback xmlns="">
      <p:transition spd="slow" advTm="31663"/>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412480" cy="1143000"/>
          </a:xfrm>
        </p:spPr>
        <p:txBody>
          <a:bodyPr anchor="ctr"/>
          <a:lstStyle/>
          <a:p>
            <a:r>
              <a:t>The problem</a:t>
            </a:r>
          </a:p>
        </p:txBody>
      </p:sp>
      <p:sp>
        <p:nvSpPr>
          <p:cNvPr id="3" name="Rounded Rectangle 2"/>
          <p:cNvSpPr/>
          <p:nvPr/>
        </p:nvSpPr>
        <p:spPr>
          <a:xfrm>
            <a:off x="9464040" y="658368"/>
            <a:ext cx="2240280" cy="420624"/>
          </a:xfrm>
          <a:prstGeom prst="roundRect">
            <a:avLst>
              <a:gd name="adj" fmla="val 50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DC00"/>
                </a:solidFill>
                <a:latin typeface="Arial"/>
              </a:rPr>
              <a:t>≈ 40 SEC</a:t>
            </a:r>
          </a:p>
        </p:txBody>
      </p:sp>
      <p:sp>
        <p:nvSpPr>
          <p:cNvPr id="4" name="Rectangle 3"/>
          <p:cNvSpPr/>
          <p:nvPr/>
        </p:nvSpPr>
        <p:spPr>
          <a:xfrm>
            <a:off x="841248" y="1600200"/>
            <a:ext cx="5760720" cy="42062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97280" y="1783080"/>
            <a:ext cx="5303520" cy="320040"/>
          </a:xfrm>
          <a:prstGeom prst="rect">
            <a:avLst/>
          </a:prstGeom>
          <a:noFill/>
        </p:spPr>
        <p:txBody>
          <a:bodyPr wrap="square" anchor="t" lIns="0" rIns="0" tIns="0" bIns="0">
            <a:spAutoFit/>
          </a:bodyPr>
          <a:lstStyle/>
          <a:p>
            <a:pPr algn="l">
              <a:spcAft>
                <a:spcPts val="400"/>
              </a:spcAft>
            </a:pPr>
            <a:r>
              <a:rPr sz="1300" b="1" i="0">
                <a:solidFill>
                  <a:srgbClr val="555555"/>
                </a:solidFill>
                <a:latin typeface="Arial"/>
              </a:rPr>
              <a:t>Problem statement</a:t>
            </a:r>
          </a:p>
        </p:txBody>
      </p:sp>
      <p:sp>
        <p:nvSpPr>
          <p:cNvPr id="6" name="TextBox 5"/>
          <p:cNvSpPr txBox="1"/>
          <p:nvPr/>
        </p:nvSpPr>
        <p:spPr>
          <a:xfrm>
            <a:off x="1097280" y="2148840"/>
            <a:ext cx="5303520" cy="2743200"/>
          </a:xfrm>
          <a:prstGeom prst="rect">
            <a:avLst/>
          </a:prstGeom>
          <a:noFill/>
        </p:spPr>
        <p:txBody>
          <a:bodyPr wrap="square" anchor="t" lIns="0" rIns="0" tIns="0" bIns="0">
            <a:spAutoFit/>
          </a:bodyPr>
          <a:lstStyle/>
          <a:p>
            <a:pPr algn="l">
              <a:spcAft>
                <a:spcPts val="400"/>
              </a:spcAft>
            </a:pPr>
            <a:r>
              <a:rPr sz="1600" b="0" i="0">
                <a:solidFill>
                  <a:srgbClr val="231F20"/>
                </a:solidFill>
                <a:latin typeface="Arial"/>
              </a:rPr>
              <a:t>Small Australian Shopify stores lose sales to gaps a shopper notices in seconds: no Afterpay next to the price, delivery costs hidden until checkout, nothing saying the business is local. Owners can’t tell which gaps matter most, and most can’t edit their theme without paying a developer. So the gaps stay.</a:t>
            </a:r>
          </a:p>
        </p:txBody>
      </p:sp>
      <p:sp>
        <p:nvSpPr>
          <p:cNvPr id="7" name="TextBox 6"/>
          <p:cNvSpPr txBox="1"/>
          <p:nvPr/>
        </p:nvSpPr>
        <p:spPr>
          <a:xfrm>
            <a:off x="1097280" y="4983480"/>
            <a:ext cx="5303520" cy="685800"/>
          </a:xfrm>
          <a:prstGeom prst="rect">
            <a:avLst/>
          </a:prstGeom>
          <a:noFill/>
        </p:spPr>
        <p:txBody>
          <a:bodyPr wrap="square" anchor="t" lIns="0" rIns="0" tIns="0" bIns="0">
            <a:spAutoFit/>
          </a:bodyPr>
          <a:lstStyle/>
          <a:p>
            <a:pPr algn="l">
              <a:spcAft>
                <a:spcPts val="400"/>
              </a:spcAft>
            </a:pPr>
            <a:r>
              <a:rPr sz="1200" b="1" i="0">
                <a:solidFill>
                  <a:srgbClr val="231F20"/>
                </a:solidFill>
                <a:latin typeface="Arial"/>
              </a:rPr>
              <a:t xml:space="preserve">Who has this problem: </a:t>
            </a:r>
          </a:p>
          <a:p>
            <a:pPr algn="l">
              <a:spcAft>
                <a:spcPts val="400"/>
              </a:spcAft>
            </a:pPr>
            <a:r>
              <a:rPr sz="1200" b="0" i="0">
                <a:solidFill>
                  <a:srgbClr val="231F20"/>
                </a:solidFill>
                <a:latin typeface="Arial"/>
              </a:rPr>
              <a:t>Founders of small Australian Shopify stores, with no developer and little time</a:t>
            </a:r>
          </a:p>
        </p:txBody>
      </p:sp>
      <p:sp>
        <p:nvSpPr>
          <p:cNvPr id="8" name="Rectangle 7"/>
          <p:cNvSpPr/>
          <p:nvPr/>
        </p:nvSpPr>
        <p:spPr>
          <a:xfrm>
            <a:off x="6858000" y="1600200"/>
            <a:ext cx="4663440" cy="1280160"/>
          </a:xfrm>
          <a:prstGeom prst="rect">
            <a:avLst/>
          </a:prstGeom>
          <a:solidFill>
            <a:srgbClr val="FFF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040880" y="1764792"/>
            <a:ext cx="384048" cy="384048"/>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200" b="1" i="0">
                <a:solidFill>
                  <a:srgbClr val="231F20"/>
                </a:solidFill>
                <a:latin typeface="Arial"/>
              </a:rPr>
              <a:t>1</a:t>
            </a:r>
          </a:p>
        </p:txBody>
      </p:sp>
      <p:sp>
        <p:nvSpPr>
          <p:cNvPr id="10" name="TextBox 9"/>
          <p:cNvSpPr txBox="1"/>
          <p:nvPr/>
        </p:nvSpPr>
        <p:spPr>
          <a:xfrm>
            <a:off x="7589520" y="1737360"/>
            <a:ext cx="3749039" cy="68580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Unexpected extra costs at checkout, like shipping, are among the top reasons shoppers abandon a cart.</a:t>
            </a:r>
          </a:p>
        </p:txBody>
      </p:sp>
      <p:sp>
        <p:nvSpPr>
          <p:cNvPr id="11" name="TextBox 10"/>
          <p:cNvSpPr txBox="1"/>
          <p:nvPr/>
        </p:nvSpPr>
        <p:spPr>
          <a:xfrm>
            <a:off x="7589520" y="2441448"/>
            <a:ext cx="3749039" cy="365760"/>
          </a:xfrm>
          <a:prstGeom prst="rect">
            <a:avLst/>
          </a:prstGeom>
          <a:noFill/>
        </p:spPr>
        <p:txBody>
          <a:bodyPr wrap="square" anchor="t" lIns="0" rIns="0" tIns="0" bIns="0">
            <a:spAutoFit/>
          </a:bodyPr>
          <a:lstStyle/>
          <a:p>
            <a:pPr algn="l">
              <a:spcAft>
                <a:spcPts val="400"/>
              </a:spcAft>
            </a:pPr>
            <a:r>
              <a:rPr sz="1100" b="1" i="0">
                <a:solidFill>
                  <a:srgbClr val="231F20"/>
                </a:solidFill>
                <a:latin typeface="Arial"/>
              </a:rPr>
              <a:t xml:space="preserve">Source: </a:t>
            </a:r>
            <a:r>
              <a:rPr sz="1100" b="0" i="0">
                <a:solidFill>
                  <a:srgbClr val="231F20"/>
                </a:solidFill>
                <a:latin typeface="Arial"/>
              </a:rPr>
              <a:t>Baymard Institute, cart abandonment research</a:t>
            </a:r>
          </a:p>
        </p:txBody>
      </p:sp>
      <p:sp>
        <p:nvSpPr>
          <p:cNvPr id="12" name="Rectangle 11"/>
          <p:cNvSpPr/>
          <p:nvPr/>
        </p:nvSpPr>
        <p:spPr>
          <a:xfrm>
            <a:off x="6858000" y="3017520"/>
            <a:ext cx="4663440" cy="1280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040880" y="3182112"/>
            <a:ext cx="384048" cy="384048"/>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200" b="1" i="0">
                <a:solidFill>
                  <a:srgbClr val="231F20"/>
                </a:solidFill>
                <a:latin typeface="Arial"/>
              </a:rPr>
              <a:t>2</a:t>
            </a:r>
          </a:p>
        </p:txBody>
      </p:sp>
      <p:sp>
        <p:nvSpPr>
          <p:cNvPr id="14" name="TextBox 13"/>
          <p:cNvSpPr txBox="1"/>
          <p:nvPr/>
        </p:nvSpPr>
        <p:spPr>
          <a:xfrm>
            <a:off x="7589520" y="3154679"/>
            <a:ext cx="3749039" cy="68580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Even big brands miss basics: our check of frankbody.com found no Afterpay by the price and no local-business signal.</a:t>
            </a:r>
          </a:p>
        </p:txBody>
      </p:sp>
      <p:sp>
        <p:nvSpPr>
          <p:cNvPr id="15" name="TextBox 14"/>
          <p:cNvSpPr txBox="1"/>
          <p:nvPr/>
        </p:nvSpPr>
        <p:spPr>
          <a:xfrm>
            <a:off x="7589520" y="3858768"/>
            <a:ext cx="3749039" cy="365760"/>
          </a:xfrm>
          <a:prstGeom prst="rect">
            <a:avLst/>
          </a:prstGeom>
          <a:noFill/>
        </p:spPr>
        <p:txBody>
          <a:bodyPr wrap="square" anchor="t" lIns="0" rIns="0" tIns="0" bIns="0">
            <a:spAutoFit/>
          </a:bodyPr>
          <a:lstStyle/>
          <a:p>
            <a:pPr algn="l">
              <a:spcAft>
                <a:spcPts val="400"/>
              </a:spcAft>
            </a:pPr>
            <a:r>
              <a:rPr sz="1100" b="1" i="0">
                <a:solidFill>
                  <a:srgbClr val="231F20"/>
                </a:solidFill>
                <a:latin typeface="Arial"/>
              </a:rPr>
              <a:t xml:space="preserve">Source: </a:t>
            </a:r>
            <a:r>
              <a:rPr sz="1100" b="0" i="0">
                <a:solidFill>
                  <a:srgbClr val="231F20"/>
                </a:solidFill>
                <a:latin typeface="Arial"/>
              </a:rPr>
              <a:t>Our own QuickLift check, 27 Oct 2026</a:t>
            </a:r>
          </a:p>
        </p:txBody>
      </p:sp>
      <p:sp>
        <p:nvSpPr>
          <p:cNvPr id="16" name="Rectangle 15"/>
          <p:cNvSpPr/>
          <p:nvPr/>
        </p:nvSpPr>
        <p:spPr>
          <a:xfrm>
            <a:off x="6858000" y="4434840"/>
            <a:ext cx="4663440" cy="1280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040880" y="4599431"/>
            <a:ext cx="384048" cy="384048"/>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200" b="1" i="0">
                <a:solidFill>
                  <a:srgbClr val="231F20"/>
                </a:solidFill>
                <a:latin typeface="Arial"/>
              </a:rPr>
              <a:t>3</a:t>
            </a:r>
          </a:p>
        </p:txBody>
      </p:sp>
      <p:sp>
        <p:nvSpPr>
          <p:cNvPr id="18" name="TextBox 17"/>
          <p:cNvSpPr txBox="1"/>
          <p:nvPr/>
        </p:nvSpPr>
        <p:spPr>
          <a:xfrm>
            <a:off x="7589520" y="4572000"/>
            <a:ext cx="3749039" cy="68580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[Quote from our participating owner: what is hard about changing their store]</a:t>
            </a:r>
          </a:p>
        </p:txBody>
      </p:sp>
      <p:sp>
        <p:nvSpPr>
          <p:cNvPr id="19" name="TextBox 18"/>
          <p:cNvSpPr txBox="1"/>
          <p:nvPr/>
        </p:nvSpPr>
        <p:spPr>
          <a:xfrm>
            <a:off x="7589520" y="5276088"/>
            <a:ext cx="3749039" cy="365760"/>
          </a:xfrm>
          <a:prstGeom prst="rect">
            <a:avLst/>
          </a:prstGeom>
          <a:noFill/>
        </p:spPr>
        <p:txBody>
          <a:bodyPr wrap="square" anchor="t" lIns="0" rIns="0" tIns="0" bIns="0">
            <a:spAutoFit/>
          </a:bodyPr>
          <a:lstStyle/>
          <a:p>
            <a:pPr algn="l">
              <a:spcAft>
                <a:spcPts val="400"/>
              </a:spcAft>
            </a:pPr>
            <a:r>
              <a:rPr sz="1100" b="1" i="0">
                <a:solidFill>
                  <a:srgbClr val="231F20"/>
                </a:solidFill>
                <a:latin typeface="Arial"/>
              </a:rPr>
              <a:t xml:space="preserve">Source: </a:t>
            </a:r>
            <a:r>
              <a:rPr sz="1100" b="0" i="0">
                <a:solidFill>
                  <a:srgbClr val="231F20"/>
                </a:solidFill>
                <a:latin typeface="Arial"/>
              </a:rPr>
              <a:t>[Owner interview, date]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412480" cy="1143000"/>
          </a:xfrm>
        </p:spPr>
        <p:txBody>
          <a:bodyPr anchor="ctr"/>
          <a:lstStyle/>
          <a:p>
            <a:r>
              <a:t>Our solution design</a:t>
            </a:r>
          </a:p>
        </p:txBody>
      </p:sp>
      <p:sp>
        <p:nvSpPr>
          <p:cNvPr id="3" name="Rounded Rectangle 2"/>
          <p:cNvSpPr/>
          <p:nvPr/>
        </p:nvSpPr>
        <p:spPr>
          <a:xfrm>
            <a:off x="9464040" y="658368"/>
            <a:ext cx="2240280" cy="420624"/>
          </a:xfrm>
          <a:prstGeom prst="roundRect">
            <a:avLst>
              <a:gd name="adj" fmla="val 50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DC00"/>
                </a:solidFill>
                <a:latin typeface="Arial"/>
              </a:rPr>
              <a:t>≈ 50 SEC</a:t>
            </a:r>
          </a:p>
        </p:txBody>
      </p:sp>
      <p:sp>
        <p:nvSpPr>
          <p:cNvPr id="4" name="Rectangle 3"/>
          <p:cNvSpPr/>
          <p:nvPr/>
        </p:nvSpPr>
        <p:spPr>
          <a:xfrm>
            <a:off x="841248" y="1600200"/>
            <a:ext cx="4754880" cy="141732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1737360"/>
            <a:ext cx="4389120" cy="274320"/>
          </a:xfrm>
          <a:prstGeom prst="rect">
            <a:avLst/>
          </a:prstGeom>
          <a:noFill/>
        </p:spPr>
        <p:txBody>
          <a:bodyPr wrap="square" anchor="t" lIns="0" rIns="0" tIns="0" bIns="0">
            <a:spAutoFit/>
          </a:bodyPr>
          <a:lstStyle/>
          <a:p>
            <a:pPr algn="l">
              <a:spcAft>
                <a:spcPts val="400"/>
              </a:spcAft>
            </a:pPr>
            <a:r>
              <a:rPr sz="1200" b="1" i="0">
                <a:solidFill>
                  <a:srgbClr val="231F20"/>
                </a:solidFill>
                <a:latin typeface="Arial"/>
              </a:rPr>
              <a:t>In one sentence</a:t>
            </a:r>
          </a:p>
        </p:txBody>
      </p:sp>
      <p:sp>
        <p:nvSpPr>
          <p:cNvPr id="6" name="TextBox 5"/>
          <p:cNvSpPr txBox="1"/>
          <p:nvPr/>
        </p:nvSpPr>
        <p:spPr>
          <a:xfrm>
            <a:off x="1051560" y="2057400"/>
            <a:ext cx="4389120" cy="914400"/>
          </a:xfrm>
          <a:prstGeom prst="rect">
            <a:avLst/>
          </a:prstGeom>
          <a:noFill/>
        </p:spPr>
        <p:txBody>
          <a:bodyPr wrap="square" anchor="t" lIns="0" rIns="0" tIns="0" bIns="0">
            <a:spAutoFit/>
          </a:bodyPr>
          <a:lstStyle/>
          <a:p>
            <a:pPr algn="l">
              <a:spcAft>
                <a:spcPts val="400"/>
              </a:spcAft>
            </a:pPr>
            <a:r>
              <a:rPr sz="1500" b="0" i="0">
                <a:solidFill>
                  <a:srgbClr val="231F20"/>
                </a:solidFill>
                <a:latin typeface="Arial"/>
              </a:rPr>
              <a:t>Paste in a Shopify store: QuickLift ranks what shoppers would miss, shows each fix on the real page, and its AI agent makes any change the owner asks for.</a:t>
            </a:r>
          </a:p>
        </p:txBody>
      </p:sp>
      <p:pic>
        <p:nvPicPr>
          <p:cNvPr id="7" name="Image placeholder picture" descr="QuickLift owner dashboard for frankbody.com: three things to fix, ranked, and the Ask the agent box"/>
          <p:cNvPicPr>
            <a:picLocks noChangeAspect="1"/>
          </p:cNvPicPr>
          <p:nvPr/>
        </p:nvPicPr>
        <p:blipFill>
          <a:blip r:embed="rId3"/>
          <a:stretch>
            <a:fillRect/>
          </a:stretch>
        </p:blipFill>
        <p:spPr>
          <a:xfrm>
            <a:off x="1097280" y="3154680"/>
            <a:ext cx="4242816" cy="2651760"/>
          </a:xfrm>
          <a:prstGeom prst="rect">
            <a:avLst/>
          </a:prstGeom>
          <a:ln w="9525">
            <a:solidFill>
              <a:srgbClr val="D0D0D0"/>
            </a:solidFill>
          </a:ln>
        </p:spPr>
      </p:pic>
      <p:sp>
        <p:nvSpPr>
          <p:cNvPr id="8" name="TextBox 7"/>
          <p:cNvSpPr txBox="1"/>
          <p:nvPr/>
        </p:nvSpPr>
        <p:spPr>
          <a:xfrm>
            <a:off x="5897880" y="1600200"/>
            <a:ext cx="5623560" cy="320040"/>
          </a:xfrm>
          <a:prstGeom prst="rect">
            <a:avLst/>
          </a:prstGeom>
          <a:noFill/>
        </p:spPr>
        <p:txBody>
          <a:bodyPr wrap="square" anchor="t" lIns="0" rIns="0" tIns="0" bIns="0">
            <a:spAutoFit/>
          </a:bodyPr>
          <a:lstStyle/>
          <a:p>
            <a:pPr algn="l">
              <a:spcAft>
                <a:spcPts val="400"/>
              </a:spcAft>
            </a:pPr>
            <a:r>
              <a:rPr sz="1300" b="1" i="0">
                <a:solidFill>
                  <a:srgbClr val="555555"/>
                </a:solidFill>
                <a:latin typeface="Arial"/>
              </a:rPr>
              <a:t>Design decisions and the evidence behind them</a:t>
            </a:r>
          </a:p>
        </p:txBody>
      </p:sp>
      <p:sp>
        <p:nvSpPr>
          <p:cNvPr id="9" name="Rectangle 8"/>
          <p:cNvSpPr/>
          <p:nvPr/>
        </p:nvSpPr>
        <p:spPr>
          <a:xfrm>
            <a:off x="5897880" y="2011680"/>
            <a:ext cx="5623560" cy="11430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80760" y="2121408"/>
            <a:ext cx="2377440" cy="274320"/>
          </a:xfrm>
          <a:prstGeom prst="rect">
            <a:avLst/>
          </a:prstGeom>
          <a:noFill/>
        </p:spPr>
        <p:txBody>
          <a:bodyPr wrap="square" anchor="t" lIns="0" rIns="0" tIns="0" bIns="0">
            <a:spAutoFit/>
          </a:bodyPr>
          <a:lstStyle/>
          <a:p>
            <a:pPr algn="l">
              <a:spcAft>
                <a:spcPts val="400"/>
              </a:spcAft>
            </a:pPr>
            <a:r>
              <a:rPr sz="1100" b="1" i="0">
                <a:solidFill>
                  <a:srgbClr val="555555"/>
                </a:solidFill>
                <a:latin typeface="Arial"/>
              </a:rPr>
              <a:t>Decision 1</a:t>
            </a:r>
          </a:p>
        </p:txBody>
      </p:sp>
      <p:sp>
        <p:nvSpPr>
          <p:cNvPr id="11" name="TextBox 10"/>
          <p:cNvSpPr txBox="1"/>
          <p:nvPr/>
        </p:nvSpPr>
        <p:spPr>
          <a:xfrm>
            <a:off x="6080760" y="2395728"/>
            <a:ext cx="2514600" cy="7315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Shopify stores only, across all of ecommerce</a:t>
            </a:r>
          </a:p>
        </p:txBody>
      </p:sp>
      <p:sp>
        <p:nvSpPr>
          <p:cNvPr id="12" name="TextBox 11"/>
          <p:cNvSpPr txBox="1"/>
          <p:nvPr/>
        </p:nvSpPr>
        <p:spPr>
          <a:xfrm>
            <a:off x="8732520" y="2121408"/>
            <a:ext cx="2651760" cy="274320"/>
          </a:xfrm>
          <a:prstGeom prst="rect">
            <a:avLst/>
          </a:prstGeom>
          <a:noFill/>
        </p:spPr>
        <p:txBody>
          <a:bodyPr wrap="square" anchor="t" lIns="0" rIns="0" tIns="0" bIns="0">
            <a:spAutoFit/>
          </a:bodyPr>
          <a:lstStyle/>
          <a:p>
            <a:pPr algn="l">
              <a:spcAft>
                <a:spcPts val="400"/>
              </a:spcAft>
            </a:pPr>
            <a:r>
              <a:rPr sz="1100" b="1" i="0">
                <a:solidFill>
                  <a:srgbClr val="555555"/>
                </a:solidFill>
                <a:latin typeface="Arial"/>
              </a:rPr>
              <a:t>Because</a:t>
            </a:r>
          </a:p>
        </p:txBody>
      </p:sp>
      <p:sp>
        <p:nvSpPr>
          <p:cNvPr id="13" name="TextBox 12"/>
          <p:cNvSpPr txBox="1"/>
          <p:nvPr/>
        </p:nvSpPr>
        <p:spPr>
          <a:xfrm>
            <a:off x="8732520" y="2395728"/>
            <a:ext cx="2651760" cy="7315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Every Shopify store publishes its pages and product data, so we can check any store with no login</a:t>
            </a:r>
          </a:p>
        </p:txBody>
      </p:sp>
      <p:sp>
        <p:nvSpPr>
          <p:cNvPr id="14" name="Rectangle 13"/>
          <p:cNvSpPr/>
          <p:nvPr/>
        </p:nvSpPr>
        <p:spPr>
          <a:xfrm>
            <a:off x="5897880" y="3291840"/>
            <a:ext cx="5623560" cy="11430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80760" y="3401568"/>
            <a:ext cx="2377440" cy="274320"/>
          </a:xfrm>
          <a:prstGeom prst="rect">
            <a:avLst/>
          </a:prstGeom>
          <a:noFill/>
        </p:spPr>
        <p:txBody>
          <a:bodyPr wrap="square" anchor="t" lIns="0" rIns="0" tIns="0" bIns="0">
            <a:spAutoFit/>
          </a:bodyPr>
          <a:lstStyle/>
          <a:p>
            <a:pPr algn="l">
              <a:spcAft>
                <a:spcPts val="400"/>
              </a:spcAft>
            </a:pPr>
            <a:r>
              <a:rPr sz="1100" b="1" i="0">
                <a:solidFill>
                  <a:srgbClr val="555555"/>
                </a:solidFill>
                <a:latin typeface="Arial"/>
              </a:rPr>
              <a:t>Decision 2</a:t>
            </a:r>
          </a:p>
        </p:txBody>
      </p:sp>
      <p:sp>
        <p:nvSpPr>
          <p:cNvPr id="16" name="TextBox 15"/>
          <p:cNvSpPr txBox="1"/>
          <p:nvPr/>
        </p:nvSpPr>
        <p:spPr>
          <a:xfrm>
            <a:off x="6080760" y="3675888"/>
            <a:ext cx="2514600" cy="7315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Show every change on a copy of the real page before it goes live</a:t>
            </a:r>
          </a:p>
        </p:txBody>
      </p:sp>
      <p:sp>
        <p:nvSpPr>
          <p:cNvPr id="17" name="TextBox 16"/>
          <p:cNvSpPr txBox="1"/>
          <p:nvPr/>
        </p:nvSpPr>
        <p:spPr>
          <a:xfrm>
            <a:off x="8732520" y="3401568"/>
            <a:ext cx="2651760" cy="274320"/>
          </a:xfrm>
          <a:prstGeom prst="rect">
            <a:avLst/>
          </a:prstGeom>
          <a:noFill/>
        </p:spPr>
        <p:txBody>
          <a:bodyPr wrap="square" anchor="t" lIns="0" rIns="0" tIns="0" bIns="0">
            <a:spAutoFit/>
          </a:bodyPr>
          <a:lstStyle/>
          <a:p>
            <a:pPr algn="l">
              <a:spcAft>
                <a:spcPts val="400"/>
              </a:spcAft>
            </a:pPr>
            <a:r>
              <a:rPr sz="1100" b="1" i="0">
                <a:solidFill>
                  <a:srgbClr val="555555"/>
                </a:solidFill>
                <a:latin typeface="Arial"/>
              </a:rPr>
              <a:t>Because</a:t>
            </a:r>
          </a:p>
        </p:txBody>
      </p:sp>
      <p:sp>
        <p:nvSpPr>
          <p:cNvPr id="18" name="TextBox 17"/>
          <p:cNvSpPr txBox="1"/>
          <p:nvPr/>
        </p:nvSpPr>
        <p:spPr>
          <a:xfrm>
            <a:off x="8732520" y="3675888"/>
            <a:ext cx="2651760" cy="7315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Week 2: trust, not cost, is SMEs’ main barrier to AI. Owners trust what they see on their own page</a:t>
            </a:r>
          </a:p>
        </p:txBody>
      </p:sp>
      <p:sp>
        <p:nvSpPr>
          <p:cNvPr id="19" name="Rectangle 18"/>
          <p:cNvSpPr/>
          <p:nvPr/>
        </p:nvSpPr>
        <p:spPr>
          <a:xfrm>
            <a:off x="5897880" y="4572000"/>
            <a:ext cx="5623560" cy="11430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80760" y="4681728"/>
            <a:ext cx="2377440" cy="274320"/>
          </a:xfrm>
          <a:prstGeom prst="rect">
            <a:avLst/>
          </a:prstGeom>
          <a:noFill/>
        </p:spPr>
        <p:txBody>
          <a:bodyPr wrap="square" anchor="t" lIns="0" rIns="0" tIns="0" bIns="0">
            <a:spAutoFit/>
          </a:bodyPr>
          <a:lstStyle/>
          <a:p>
            <a:pPr algn="l">
              <a:spcAft>
                <a:spcPts val="400"/>
              </a:spcAft>
            </a:pPr>
            <a:r>
              <a:rPr sz="1100" b="1" i="0">
                <a:solidFill>
                  <a:srgbClr val="555555"/>
                </a:solidFill>
                <a:latin typeface="Arial"/>
              </a:rPr>
              <a:t>Decision 3</a:t>
            </a:r>
          </a:p>
        </p:txBody>
      </p:sp>
      <p:sp>
        <p:nvSpPr>
          <p:cNvPr id="21" name="TextBox 20"/>
          <p:cNvSpPr txBox="1"/>
          <p:nvPr/>
        </p:nvSpPr>
        <p:spPr>
          <a:xfrm>
            <a:off x="6080760" y="4956048"/>
            <a:ext cx="2514600" cy="7315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Never invent facts. We chose not to auto-add reviews</a:t>
            </a:r>
          </a:p>
        </p:txBody>
      </p:sp>
      <p:sp>
        <p:nvSpPr>
          <p:cNvPr id="22" name="TextBox 21"/>
          <p:cNvSpPr txBox="1"/>
          <p:nvPr/>
        </p:nvSpPr>
        <p:spPr>
          <a:xfrm>
            <a:off x="8732520" y="4681728"/>
            <a:ext cx="2651760" cy="274320"/>
          </a:xfrm>
          <a:prstGeom prst="rect">
            <a:avLst/>
          </a:prstGeom>
          <a:noFill/>
        </p:spPr>
        <p:txBody>
          <a:bodyPr wrap="square" anchor="t" lIns="0" rIns="0" tIns="0" bIns="0">
            <a:spAutoFit/>
          </a:bodyPr>
          <a:lstStyle/>
          <a:p>
            <a:pPr algn="l">
              <a:spcAft>
                <a:spcPts val="400"/>
              </a:spcAft>
            </a:pPr>
            <a:r>
              <a:rPr sz="1100" b="1" i="0">
                <a:solidFill>
                  <a:srgbClr val="555555"/>
                </a:solidFill>
                <a:latin typeface="Arial"/>
              </a:rPr>
              <a:t>Because</a:t>
            </a:r>
          </a:p>
        </p:txBody>
      </p:sp>
      <p:sp>
        <p:nvSpPr>
          <p:cNvPr id="23" name="TextBox 22"/>
          <p:cNvSpPr txBox="1"/>
          <p:nvPr/>
        </p:nvSpPr>
        <p:spPr>
          <a:xfrm>
            <a:off x="8732520" y="4956048"/>
            <a:ext cx="2651760" cy="7315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Fake reviews or timers mislead shoppers. The agent flags any fact only the owner can confirm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412480" cy="1143000"/>
          </a:xfrm>
        </p:spPr>
        <p:txBody>
          <a:bodyPr anchor="ctr"/>
          <a:lstStyle/>
          <a:p>
            <a:r>
              <a:t>Our agentic feature</a:t>
            </a:r>
          </a:p>
        </p:txBody>
      </p:sp>
      <p:sp>
        <p:nvSpPr>
          <p:cNvPr id="3" name="Rounded Rectangle 2"/>
          <p:cNvSpPr/>
          <p:nvPr/>
        </p:nvSpPr>
        <p:spPr>
          <a:xfrm>
            <a:off x="9464040" y="658368"/>
            <a:ext cx="2240280" cy="420624"/>
          </a:xfrm>
          <a:prstGeom prst="roundRect">
            <a:avLst>
              <a:gd name="adj" fmla="val 50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DC00"/>
                </a:solidFill>
                <a:latin typeface="Arial"/>
              </a:rPr>
              <a:t>≈ 60 SEC</a:t>
            </a:r>
          </a:p>
        </p:txBody>
      </p:sp>
      <p:sp>
        <p:nvSpPr>
          <p:cNvPr id="4" name="TextBox 3"/>
          <p:cNvSpPr txBox="1"/>
          <p:nvPr/>
        </p:nvSpPr>
        <p:spPr>
          <a:xfrm>
            <a:off x="841248" y="1463040"/>
            <a:ext cx="10607040" cy="365760"/>
          </a:xfrm>
          <a:prstGeom prst="rect">
            <a:avLst/>
          </a:prstGeom>
          <a:noFill/>
        </p:spPr>
        <p:txBody>
          <a:bodyPr wrap="square" anchor="t" lIns="0" rIns="0" tIns="0" bIns="0">
            <a:spAutoFit/>
          </a:bodyPr>
          <a:lstStyle/>
          <a:p>
            <a:pPr algn="l">
              <a:spcAft>
                <a:spcPts val="400"/>
              </a:spcAft>
            </a:pPr>
            <a:r>
              <a:rPr sz="1500" b="1" i="0">
                <a:solidFill>
                  <a:srgbClr val="231F20"/>
                </a:solidFill>
                <a:latin typeface="Arial"/>
              </a:rPr>
              <a:t xml:space="preserve">The friction it removes: </a:t>
            </a:r>
            <a:r>
              <a:rPr sz="1500" b="0" i="0">
                <a:solidFill>
                  <a:srgbClr val="231F20"/>
                </a:solidFill>
                <a:latin typeface="Arial"/>
              </a:rPr>
              <a:t>changing anything on a Shopify page means editing theme code, or paying a developer</a:t>
            </a:r>
          </a:p>
        </p:txBody>
      </p:sp>
      <p:sp>
        <p:nvSpPr>
          <p:cNvPr id="5" name="TextBox 4"/>
          <p:cNvSpPr txBox="1"/>
          <p:nvPr/>
        </p:nvSpPr>
        <p:spPr>
          <a:xfrm>
            <a:off x="841248" y="1965960"/>
            <a:ext cx="4572000" cy="320040"/>
          </a:xfrm>
          <a:prstGeom prst="rect">
            <a:avLst/>
          </a:prstGeom>
          <a:noFill/>
        </p:spPr>
        <p:txBody>
          <a:bodyPr wrap="square" anchor="t" lIns="0" rIns="0" tIns="0" bIns="0">
            <a:spAutoFit/>
          </a:bodyPr>
          <a:lstStyle/>
          <a:p>
            <a:pPr algn="l">
              <a:spcAft>
                <a:spcPts val="400"/>
              </a:spcAft>
            </a:pPr>
            <a:r>
              <a:rPr sz="1300" b="1" i="0">
                <a:solidFill>
                  <a:srgbClr val="555555"/>
                </a:solidFill>
                <a:latin typeface="Arial"/>
              </a:rPr>
              <a:t>Today, without it</a:t>
            </a:r>
          </a:p>
        </p:txBody>
      </p:sp>
      <p:sp>
        <p:nvSpPr>
          <p:cNvPr id="6" name="Rectangle 5"/>
          <p:cNvSpPr/>
          <p:nvPr/>
        </p:nvSpPr>
        <p:spPr>
          <a:xfrm>
            <a:off x="841248" y="2331720"/>
            <a:ext cx="3291840" cy="566928"/>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468879"/>
            <a:ext cx="3017520" cy="365760"/>
          </a:xfrm>
          <a:prstGeom prst="rect">
            <a:avLst/>
          </a:prstGeom>
          <a:noFill/>
        </p:spPr>
        <p:txBody>
          <a:bodyPr wrap="square" anchor="t" lIns="0" rIns="0" tIns="0" bIns="0">
            <a:spAutoFit/>
          </a:bodyPr>
          <a:lstStyle/>
          <a:p>
            <a:pPr algn="l">
              <a:spcAft>
                <a:spcPts val="400"/>
              </a:spcAft>
            </a:pPr>
            <a:r>
              <a:rPr sz="1200" b="0" i="0">
                <a:solidFill>
                  <a:srgbClr val="231F20"/>
                </a:solidFill>
                <a:latin typeface="Arial"/>
              </a:rPr>
              <a:t>Work out which theme file controls it</a:t>
            </a:r>
          </a:p>
        </p:txBody>
      </p:sp>
      <p:sp>
        <p:nvSpPr>
          <p:cNvPr id="8" name="Rectangle 7"/>
          <p:cNvSpPr/>
          <p:nvPr/>
        </p:nvSpPr>
        <p:spPr>
          <a:xfrm>
            <a:off x="841248" y="3017520"/>
            <a:ext cx="3291840" cy="566928"/>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3154679"/>
            <a:ext cx="3017520" cy="365760"/>
          </a:xfrm>
          <a:prstGeom prst="rect">
            <a:avLst/>
          </a:prstGeom>
          <a:noFill/>
        </p:spPr>
        <p:txBody>
          <a:bodyPr wrap="square" anchor="t" lIns="0" rIns="0" tIns="0" bIns="0">
            <a:spAutoFit/>
          </a:bodyPr>
          <a:lstStyle/>
          <a:p>
            <a:pPr algn="l">
              <a:spcAft>
                <a:spcPts val="400"/>
              </a:spcAft>
            </a:pPr>
            <a:r>
              <a:rPr sz="1200" b="0" i="0">
                <a:solidFill>
                  <a:srgbClr val="231F20"/>
                </a:solidFill>
                <a:latin typeface="Arial"/>
              </a:rPr>
              <a:t>Write and test the code by hand</a:t>
            </a:r>
          </a:p>
        </p:txBody>
      </p:sp>
      <p:sp>
        <p:nvSpPr>
          <p:cNvPr id="10" name="Rectangle 9"/>
          <p:cNvSpPr/>
          <p:nvPr/>
        </p:nvSpPr>
        <p:spPr>
          <a:xfrm>
            <a:off x="841248" y="3703320"/>
            <a:ext cx="3291840" cy="566928"/>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5840" y="3840480"/>
            <a:ext cx="3017520" cy="365760"/>
          </a:xfrm>
          <a:prstGeom prst="rect">
            <a:avLst/>
          </a:prstGeom>
          <a:noFill/>
        </p:spPr>
        <p:txBody>
          <a:bodyPr wrap="square" anchor="t" lIns="0" rIns="0" tIns="0" bIns="0">
            <a:spAutoFit/>
          </a:bodyPr>
          <a:lstStyle/>
          <a:p>
            <a:pPr algn="l">
              <a:spcAft>
                <a:spcPts val="400"/>
              </a:spcAft>
            </a:pPr>
            <a:r>
              <a:rPr sz="1200" b="0" i="0">
                <a:solidFill>
                  <a:srgbClr val="231F20"/>
                </a:solidFill>
                <a:latin typeface="Arial"/>
              </a:rPr>
              <a:t>Or brief and pay a developer, then wait</a:t>
            </a:r>
          </a:p>
        </p:txBody>
      </p:sp>
      <p:sp>
        <p:nvSpPr>
          <p:cNvPr id="12" name="Right Arrow 11"/>
          <p:cNvSpPr/>
          <p:nvPr/>
        </p:nvSpPr>
        <p:spPr>
          <a:xfrm>
            <a:off x="4297680" y="3017520"/>
            <a:ext cx="457200" cy="457200"/>
          </a:xfrm>
          <a:prstGeom prst="rightArrow">
            <a:avLst/>
          </a:prstGeom>
          <a:solidFill>
            <a:srgbClr val="231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1965960"/>
            <a:ext cx="6400800" cy="320040"/>
          </a:xfrm>
          <a:prstGeom prst="rect">
            <a:avLst/>
          </a:prstGeom>
          <a:noFill/>
        </p:spPr>
        <p:txBody>
          <a:bodyPr wrap="square" anchor="t" lIns="0" rIns="0" tIns="0" bIns="0">
            <a:spAutoFit/>
          </a:bodyPr>
          <a:lstStyle/>
          <a:p>
            <a:pPr algn="l">
              <a:spcAft>
                <a:spcPts val="400"/>
              </a:spcAft>
            </a:pPr>
            <a:r>
              <a:rPr sz="1300" b="1" i="0">
                <a:solidFill>
                  <a:srgbClr val="555555"/>
                </a:solidFill>
                <a:latin typeface="Arial"/>
              </a:rPr>
              <a:t>With the agent</a:t>
            </a:r>
          </a:p>
        </p:txBody>
      </p:sp>
      <p:sp>
        <p:nvSpPr>
          <p:cNvPr id="14" name="Rounded Rectangle 13"/>
          <p:cNvSpPr/>
          <p:nvPr/>
        </p:nvSpPr>
        <p:spPr>
          <a:xfrm>
            <a:off x="4983480" y="2331720"/>
            <a:ext cx="1508760" cy="1965960"/>
          </a:xfrm>
          <a:prstGeom prst="roundRect">
            <a:avLst>
              <a:gd name="adj" fmla="val 8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120640" y="2468880"/>
            <a:ext cx="1280160" cy="274320"/>
          </a:xfrm>
          <a:prstGeom prst="rect">
            <a:avLst/>
          </a:prstGeom>
          <a:noFill/>
        </p:spPr>
        <p:txBody>
          <a:bodyPr wrap="square" anchor="t" lIns="0" rIns="0" tIns="0" bIns="0">
            <a:spAutoFit/>
          </a:bodyPr>
          <a:lstStyle/>
          <a:p>
            <a:pPr algn="l">
              <a:spcAft>
                <a:spcPts val="400"/>
              </a:spcAft>
            </a:pPr>
            <a:r>
              <a:rPr sz="1200" b="1" i="0">
                <a:solidFill>
                  <a:srgbClr val="231F20"/>
                </a:solidFill>
                <a:latin typeface="Arial"/>
              </a:rPr>
              <a:t>Trigger</a:t>
            </a:r>
          </a:p>
        </p:txBody>
      </p:sp>
      <p:sp>
        <p:nvSpPr>
          <p:cNvPr id="16" name="TextBox 15"/>
          <p:cNvSpPr txBox="1"/>
          <p:nvPr/>
        </p:nvSpPr>
        <p:spPr>
          <a:xfrm>
            <a:off x="5120640" y="2834640"/>
            <a:ext cx="1280160" cy="1371600"/>
          </a:xfrm>
          <a:prstGeom prst="rect">
            <a:avLst/>
          </a:prstGeom>
          <a:noFill/>
        </p:spPr>
        <p:txBody>
          <a:bodyPr wrap="square" anchor="t" lIns="0" rIns="0" tIns="0" bIns="0">
            <a:spAutoFit/>
          </a:bodyPr>
          <a:lstStyle/>
          <a:p>
            <a:pPr algn="l">
              <a:spcAft>
                <a:spcPts val="400"/>
              </a:spcAft>
            </a:pPr>
            <a:r>
              <a:rPr sz="1100" b="0" i="0">
                <a:solidFill>
                  <a:srgbClr val="231F20"/>
                </a:solidFill>
                <a:latin typeface="Arial"/>
              </a:rPr>
              <a:t>The owner types a change in plain words, or switches on a suggested fix</a:t>
            </a:r>
          </a:p>
        </p:txBody>
      </p:sp>
      <p:sp>
        <p:nvSpPr>
          <p:cNvPr id="17" name="Rounded Rectangle 16"/>
          <p:cNvSpPr/>
          <p:nvPr/>
        </p:nvSpPr>
        <p:spPr>
          <a:xfrm>
            <a:off x="6629400" y="2331720"/>
            <a:ext cx="1508760" cy="1965960"/>
          </a:xfrm>
          <a:prstGeom prst="roundRect">
            <a:avLst>
              <a:gd name="adj" fmla="val 8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0" y="2468880"/>
            <a:ext cx="1280160" cy="274320"/>
          </a:xfrm>
          <a:prstGeom prst="rect">
            <a:avLst/>
          </a:prstGeom>
          <a:noFill/>
        </p:spPr>
        <p:txBody>
          <a:bodyPr wrap="square" anchor="t" lIns="0" rIns="0" tIns="0" bIns="0">
            <a:spAutoFit/>
          </a:bodyPr>
          <a:lstStyle/>
          <a:p>
            <a:pPr algn="l">
              <a:spcAft>
                <a:spcPts val="400"/>
              </a:spcAft>
            </a:pPr>
            <a:r>
              <a:rPr sz="1200" b="1" i="0">
                <a:solidFill>
                  <a:srgbClr val="FFDC00"/>
                </a:solidFill>
                <a:latin typeface="Arial"/>
              </a:rPr>
              <a:t>The agent</a:t>
            </a:r>
          </a:p>
        </p:txBody>
      </p:sp>
      <p:sp>
        <p:nvSpPr>
          <p:cNvPr id="19" name="TextBox 18"/>
          <p:cNvSpPr txBox="1"/>
          <p:nvPr/>
        </p:nvSpPr>
        <p:spPr>
          <a:xfrm>
            <a:off x="6766560" y="2834640"/>
            <a:ext cx="1280160" cy="1371600"/>
          </a:xfrm>
          <a:prstGeom prst="rect">
            <a:avLst/>
          </a:prstGeom>
          <a:noFill/>
        </p:spPr>
        <p:txBody>
          <a:bodyPr wrap="square" anchor="t" lIns="0" rIns="0" tIns="0" bIns="0">
            <a:spAutoFit/>
          </a:bodyPr>
          <a:lstStyle/>
          <a:p>
            <a:pPr algn="l">
              <a:spcAft>
                <a:spcPts val="400"/>
              </a:spcAft>
            </a:pPr>
            <a:r>
              <a:rPr sz="1100" b="0" i="1">
                <a:solidFill>
                  <a:srgbClr val="C8C8C8"/>
                </a:solidFill>
                <a:latin typeface="Arial"/>
              </a:rPr>
              <a:t>Reads the live page, picks the elements, writes the code for that theme</a:t>
            </a:r>
          </a:p>
        </p:txBody>
      </p:sp>
      <p:sp>
        <p:nvSpPr>
          <p:cNvPr id="20" name="Rounded Rectangle 19"/>
          <p:cNvSpPr/>
          <p:nvPr/>
        </p:nvSpPr>
        <p:spPr>
          <a:xfrm>
            <a:off x="8275320" y="2331720"/>
            <a:ext cx="1508760" cy="1965960"/>
          </a:xfrm>
          <a:prstGeom prst="roundRect">
            <a:avLst>
              <a:gd name="adj" fmla="val 8000"/>
            </a:avLst>
          </a:prstGeom>
          <a:solidFill>
            <a:srgbClr val="FFF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12480" y="2468880"/>
            <a:ext cx="1280160" cy="274320"/>
          </a:xfrm>
          <a:prstGeom prst="rect">
            <a:avLst/>
          </a:prstGeom>
          <a:noFill/>
        </p:spPr>
        <p:txBody>
          <a:bodyPr wrap="square" anchor="t" lIns="0" rIns="0" tIns="0" bIns="0">
            <a:spAutoFit/>
          </a:bodyPr>
          <a:lstStyle/>
          <a:p>
            <a:pPr algn="l">
              <a:spcAft>
                <a:spcPts val="400"/>
              </a:spcAft>
            </a:pPr>
            <a:r>
              <a:rPr sz="1200" b="1" i="0">
                <a:solidFill>
                  <a:srgbClr val="231F20"/>
                </a:solidFill>
                <a:latin typeface="Arial"/>
              </a:rPr>
              <a:t>Human check</a:t>
            </a:r>
          </a:p>
        </p:txBody>
      </p:sp>
      <p:sp>
        <p:nvSpPr>
          <p:cNvPr id="22" name="TextBox 21"/>
          <p:cNvSpPr txBox="1"/>
          <p:nvPr/>
        </p:nvSpPr>
        <p:spPr>
          <a:xfrm>
            <a:off x="8412480" y="2834640"/>
            <a:ext cx="1280160" cy="1371600"/>
          </a:xfrm>
          <a:prstGeom prst="rect">
            <a:avLst/>
          </a:prstGeom>
          <a:noFill/>
        </p:spPr>
        <p:txBody>
          <a:bodyPr wrap="square" anchor="t" lIns="0" rIns="0" tIns="0" bIns="0">
            <a:spAutoFit/>
          </a:bodyPr>
          <a:lstStyle/>
          <a:p>
            <a:pPr algn="l">
              <a:spcAft>
                <a:spcPts val="400"/>
              </a:spcAft>
            </a:pPr>
            <a:r>
              <a:rPr sz="1100" b="0" i="0">
                <a:solidFill>
                  <a:srgbClr val="231F20"/>
                </a:solidFill>
                <a:latin typeface="Arial"/>
              </a:rPr>
              <a:t>Sees it on the real page, reads any warning, then presses Approve</a:t>
            </a:r>
          </a:p>
        </p:txBody>
      </p:sp>
      <p:sp>
        <p:nvSpPr>
          <p:cNvPr id="23" name="Rounded Rectangle 22"/>
          <p:cNvSpPr/>
          <p:nvPr/>
        </p:nvSpPr>
        <p:spPr>
          <a:xfrm>
            <a:off x="9921240" y="2331720"/>
            <a:ext cx="1508760" cy="1965960"/>
          </a:xfrm>
          <a:prstGeom prst="roundRect">
            <a:avLst>
              <a:gd name="adj" fmla="val 8000"/>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058400" y="2468880"/>
            <a:ext cx="1280160" cy="274320"/>
          </a:xfrm>
          <a:prstGeom prst="rect">
            <a:avLst/>
          </a:prstGeom>
          <a:noFill/>
        </p:spPr>
        <p:txBody>
          <a:bodyPr wrap="square" anchor="t" lIns="0" rIns="0" tIns="0" bIns="0">
            <a:spAutoFit/>
          </a:bodyPr>
          <a:lstStyle/>
          <a:p>
            <a:pPr algn="l">
              <a:spcAft>
                <a:spcPts val="400"/>
              </a:spcAft>
            </a:pPr>
            <a:r>
              <a:rPr sz="1200" b="1" i="0">
                <a:solidFill>
                  <a:srgbClr val="231F20"/>
                </a:solidFill>
                <a:latin typeface="Arial"/>
              </a:rPr>
              <a:t>Outcome</a:t>
            </a:r>
          </a:p>
        </p:txBody>
      </p:sp>
      <p:sp>
        <p:nvSpPr>
          <p:cNvPr id="25" name="TextBox 24"/>
          <p:cNvSpPr txBox="1"/>
          <p:nvPr/>
        </p:nvSpPr>
        <p:spPr>
          <a:xfrm>
            <a:off x="10058400" y="2834640"/>
            <a:ext cx="1280160" cy="1371600"/>
          </a:xfrm>
          <a:prstGeom prst="rect">
            <a:avLst/>
          </a:prstGeom>
          <a:noFill/>
        </p:spPr>
        <p:txBody>
          <a:bodyPr wrap="square" anchor="t" lIns="0" rIns="0" tIns="0" bIns="0">
            <a:spAutoFit/>
          </a:bodyPr>
          <a:lstStyle/>
          <a:p>
            <a:pPr algn="l">
              <a:spcAft>
                <a:spcPts val="400"/>
              </a:spcAft>
            </a:pPr>
            <a:r>
              <a:rPr sz="1100" b="0" i="0">
                <a:solidFill>
                  <a:srgbClr val="231F20"/>
                </a:solidFill>
                <a:latin typeface="Arial"/>
              </a:rPr>
              <a:t>A store change in minutes, no code or developer, one-click undo</a:t>
            </a:r>
          </a:p>
        </p:txBody>
      </p:sp>
      <p:sp>
        <p:nvSpPr>
          <p:cNvPr id="26" name="Rectangle 25"/>
          <p:cNvSpPr/>
          <p:nvPr/>
        </p:nvSpPr>
        <p:spPr>
          <a:xfrm>
            <a:off x="841248" y="4572000"/>
            <a:ext cx="10680192" cy="1234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51560" y="4681728"/>
            <a:ext cx="10241280" cy="274320"/>
          </a:xfrm>
          <a:prstGeom prst="rect">
            <a:avLst/>
          </a:prstGeom>
          <a:noFill/>
        </p:spPr>
        <p:txBody>
          <a:bodyPr wrap="square" anchor="t" lIns="0" rIns="0" tIns="0" bIns="0">
            <a:spAutoFit/>
          </a:bodyPr>
          <a:lstStyle/>
          <a:p>
            <a:pPr algn="l">
              <a:spcAft>
                <a:spcPts val="400"/>
              </a:spcAft>
            </a:pPr>
            <a:r>
              <a:rPr sz="1300" b="1" i="0">
                <a:solidFill>
                  <a:srgbClr val="231F20"/>
                </a:solidFill>
                <a:latin typeface="Arial"/>
              </a:rPr>
              <a:t>Why it’s agentic, not just a chatbot</a:t>
            </a:r>
          </a:p>
        </p:txBody>
      </p:sp>
      <p:sp>
        <p:nvSpPr>
          <p:cNvPr id="28" name="TextBox 27"/>
          <p:cNvSpPr txBox="1"/>
          <p:nvPr/>
        </p:nvSpPr>
        <p:spPr>
          <a:xfrm>
            <a:off x="1051560" y="5010912"/>
            <a:ext cx="10241280" cy="7315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It acts, not only answers. It reads an outline of the store’s live page, decides which elements to change and writes the CSS and JavaScript with Claude (Anthropic API, fixed reply format). It applies the change to a sealed preview, flags anything it had to assume, like a shipping time, and on approval publishes it into the theme through Shopify’s Admin API.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412480" cy="1143000"/>
          </a:xfrm>
        </p:spPr>
        <p:txBody>
          <a:bodyPr anchor="ctr"/>
          <a:lstStyle/>
          <a:p>
            <a:r>
              <a:t>How we built it</a:t>
            </a:r>
          </a:p>
        </p:txBody>
      </p:sp>
      <p:sp>
        <p:nvSpPr>
          <p:cNvPr id="3" name="Rounded Rectangle 2"/>
          <p:cNvSpPr/>
          <p:nvPr/>
        </p:nvSpPr>
        <p:spPr>
          <a:xfrm>
            <a:off x="9464040" y="658368"/>
            <a:ext cx="2240280" cy="420624"/>
          </a:xfrm>
          <a:prstGeom prst="roundRect">
            <a:avLst>
              <a:gd name="adj" fmla="val 50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DC00"/>
                </a:solidFill>
                <a:latin typeface="Arial"/>
              </a:rPr>
              <a:t>≈ 30 SEC</a:t>
            </a:r>
          </a:p>
        </p:txBody>
      </p:sp>
      <p:sp>
        <p:nvSpPr>
          <p:cNvPr id="4" name="Rectangle 3"/>
          <p:cNvSpPr/>
          <p:nvPr/>
        </p:nvSpPr>
        <p:spPr>
          <a:xfrm>
            <a:off x="841248" y="1600200"/>
            <a:ext cx="6035040" cy="8686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1709928"/>
            <a:ext cx="1645920" cy="320040"/>
          </a:xfrm>
          <a:prstGeom prst="rect">
            <a:avLst/>
          </a:prstGeom>
          <a:noFill/>
        </p:spPr>
        <p:txBody>
          <a:bodyPr wrap="square" anchor="t" lIns="0" rIns="0" tIns="0" bIns="0">
            <a:spAutoFit/>
          </a:bodyPr>
          <a:lstStyle/>
          <a:p>
            <a:pPr algn="l">
              <a:spcAft>
                <a:spcPts val="400"/>
              </a:spcAft>
            </a:pPr>
            <a:r>
              <a:rPr sz="1400" b="1" i="0">
                <a:solidFill>
                  <a:srgbClr val="231F20"/>
                </a:solidFill>
                <a:latin typeface="Arial"/>
              </a:rPr>
              <a:t>Interface</a:t>
            </a:r>
          </a:p>
        </p:txBody>
      </p:sp>
      <p:sp>
        <p:nvSpPr>
          <p:cNvPr id="6" name="TextBox 5"/>
          <p:cNvSpPr txBox="1"/>
          <p:nvPr/>
        </p:nvSpPr>
        <p:spPr>
          <a:xfrm>
            <a:off x="2743200" y="1728216"/>
            <a:ext cx="3977639" cy="68580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Web app: home page, owner’s dashboard, and a preview of the store’s real page with Approve and publish</a:t>
            </a:r>
          </a:p>
        </p:txBody>
      </p:sp>
      <p:sp>
        <p:nvSpPr>
          <p:cNvPr id="7" name="Rectangle 6"/>
          <p:cNvSpPr/>
          <p:nvPr/>
        </p:nvSpPr>
        <p:spPr>
          <a:xfrm>
            <a:off x="841248" y="2606040"/>
            <a:ext cx="6035040" cy="8686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2715768"/>
            <a:ext cx="1645920" cy="320040"/>
          </a:xfrm>
          <a:prstGeom prst="rect">
            <a:avLst/>
          </a:prstGeom>
          <a:noFill/>
        </p:spPr>
        <p:txBody>
          <a:bodyPr wrap="square" anchor="t" lIns="0" rIns="0" tIns="0" bIns="0">
            <a:spAutoFit/>
          </a:bodyPr>
          <a:lstStyle/>
          <a:p>
            <a:pPr algn="l">
              <a:spcAft>
                <a:spcPts val="400"/>
              </a:spcAft>
            </a:pPr>
            <a:r>
              <a:rPr sz="1400" b="1" i="0">
                <a:solidFill>
                  <a:srgbClr val="231F20"/>
                </a:solidFill>
                <a:latin typeface="Arial"/>
              </a:rPr>
              <a:t>Data</a:t>
            </a:r>
          </a:p>
        </p:txBody>
      </p:sp>
      <p:sp>
        <p:nvSpPr>
          <p:cNvPr id="9" name="TextBox 8"/>
          <p:cNvSpPr txBox="1"/>
          <p:nvPr/>
        </p:nvSpPr>
        <p:spPr>
          <a:xfrm>
            <a:off x="2743200" y="2734056"/>
            <a:ext cx="3977639" cy="68580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No database. Reads each store’s public pages and product feed live, cached for 5 minutes. Stores nothing about shoppers.</a:t>
            </a:r>
          </a:p>
        </p:txBody>
      </p:sp>
      <p:sp>
        <p:nvSpPr>
          <p:cNvPr id="10" name="Rectangle 9"/>
          <p:cNvSpPr/>
          <p:nvPr/>
        </p:nvSpPr>
        <p:spPr>
          <a:xfrm>
            <a:off x="841248" y="3611880"/>
            <a:ext cx="6035040" cy="868680"/>
          </a:xfrm>
          <a:prstGeom prst="rect">
            <a:avLst/>
          </a:prstGeom>
          <a:solidFill>
            <a:srgbClr val="FFF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51560" y="3721608"/>
            <a:ext cx="1645920" cy="320040"/>
          </a:xfrm>
          <a:prstGeom prst="rect">
            <a:avLst/>
          </a:prstGeom>
          <a:noFill/>
        </p:spPr>
        <p:txBody>
          <a:bodyPr wrap="square" anchor="t" lIns="0" rIns="0" tIns="0" bIns="0">
            <a:spAutoFit/>
          </a:bodyPr>
          <a:lstStyle/>
          <a:p>
            <a:pPr algn="l">
              <a:spcAft>
                <a:spcPts val="400"/>
              </a:spcAft>
            </a:pPr>
            <a:r>
              <a:rPr sz="1400" b="1" i="0">
                <a:solidFill>
                  <a:srgbClr val="231F20"/>
                </a:solidFill>
                <a:latin typeface="Arial"/>
              </a:rPr>
              <a:t>AI and agent</a:t>
            </a:r>
          </a:p>
        </p:txBody>
      </p:sp>
      <p:sp>
        <p:nvSpPr>
          <p:cNvPr id="12" name="TextBox 11"/>
          <p:cNvSpPr txBox="1"/>
          <p:nvPr/>
        </p:nvSpPr>
        <p:spPr>
          <a:xfrm>
            <a:off x="2743200" y="3739896"/>
            <a:ext cx="3977639" cy="68580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Claude via the Anthropic API, called from our Node and Express server, so the key never reaches the browser</a:t>
            </a:r>
          </a:p>
        </p:txBody>
      </p:sp>
      <p:sp>
        <p:nvSpPr>
          <p:cNvPr id="13" name="Rectangle 12"/>
          <p:cNvSpPr/>
          <p:nvPr/>
        </p:nvSpPr>
        <p:spPr>
          <a:xfrm>
            <a:off x="841248" y="4617720"/>
            <a:ext cx="6035040" cy="8686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4727448"/>
            <a:ext cx="1645920" cy="320040"/>
          </a:xfrm>
          <a:prstGeom prst="rect">
            <a:avLst/>
          </a:prstGeom>
          <a:noFill/>
        </p:spPr>
        <p:txBody>
          <a:bodyPr wrap="square" anchor="t" lIns="0" rIns="0" tIns="0" bIns="0">
            <a:spAutoFit/>
          </a:bodyPr>
          <a:lstStyle/>
          <a:p>
            <a:pPr algn="l">
              <a:spcAft>
                <a:spcPts val="400"/>
              </a:spcAft>
            </a:pPr>
            <a:r>
              <a:rPr sz="1400" b="1" i="0">
                <a:solidFill>
                  <a:srgbClr val="231F20"/>
                </a:solidFill>
                <a:latin typeface="Arial"/>
              </a:rPr>
              <a:t>Connections</a:t>
            </a:r>
          </a:p>
        </p:txBody>
      </p:sp>
      <p:sp>
        <p:nvSpPr>
          <p:cNvPr id="15" name="TextBox 14"/>
          <p:cNvSpPr txBox="1"/>
          <p:nvPr/>
        </p:nvSpPr>
        <p:spPr>
          <a:xfrm>
            <a:off x="2743200" y="4745736"/>
            <a:ext cx="3977639" cy="68580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Shopify storefront pages and product feed (public, read-only); Shopify Admin API to publish</a:t>
            </a:r>
          </a:p>
        </p:txBody>
      </p:sp>
      <p:sp>
        <p:nvSpPr>
          <p:cNvPr id="16" name="Rectangle 15"/>
          <p:cNvSpPr/>
          <p:nvPr/>
        </p:nvSpPr>
        <p:spPr>
          <a:xfrm>
            <a:off x="7178040" y="1600200"/>
            <a:ext cx="4343400" cy="2880360"/>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06640" y="1755648"/>
            <a:ext cx="3931920" cy="320040"/>
          </a:xfrm>
          <a:prstGeom prst="rect">
            <a:avLst/>
          </a:prstGeom>
          <a:noFill/>
        </p:spPr>
        <p:txBody>
          <a:bodyPr wrap="square" anchor="t" lIns="0" rIns="0" tIns="0" bIns="0">
            <a:spAutoFit/>
          </a:bodyPr>
          <a:lstStyle/>
          <a:p>
            <a:pPr algn="l">
              <a:spcAft>
                <a:spcPts val="400"/>
              </a:spcAft>
            </a:pPr>
            <a:r>
              <a:rPr sz="1300" b="1" i="0">
                <a:solidFill>
                  <a:srgbClr val="FFDC00"/>
                </a:solidFill>
                <a:latin typeface="Arial"/>
              </a:rPr>
              <a:t>Working today</a:t>
            </a:r>
          </a:p>
        </p:txBody>
      </p:sp>
      <p:sp>
        <p:nvSpPr>
          <p:cNvPr id="18" name="TextBox 17"/>
          <p:cNvSpPr txBox="1"/>
          <p:nvPr/>
        </p:nvSpPr>
        <p:spPr>
          <a:xfrm>
            <a:off x="7406640" y="2103120"/>
            <a:ext cx="3931920" cy="822960"/>
          </a:xfrm>
          <a:prstGeom prst="rect">
            <a:avLst/>
          </a:prstGeom>
          <a:noFill/>
        </p:spPr>
        <p:txBody>
          <a:bodyPr wrap="square" anchor="t" lIns="0" rIns="0" tIns="0" bIns="0">
            <a:spAutoFit/>
          </a:bodyPr>
          <a:lstStyle/>
          <a:p>
            <a:pPr algn="l">
              <a:spcAft>
                <a:spcPts val="400"/>
              </a:spcAft>
            </a:pPr>
            <a:r>
              <a:rPr sz="1300" b="0" i="1">
                <a:solidFill>
                  <a:srgbClr val="C8C8C8"/>
                </a:solidFill>
                <a:latin typeface="Arial"/>
              </a:rPr>
              <a:t>Check any Shopify store: 7 checks, ranked dashboard, 4 ready-made fixes, agent changes in a live preview, 16 automated tests</a:t>
            </a:r>
          </a:p>
        </p:txBody>
      </p:sp>
      <p:sp>
        <p:nvSpPr>
          <p:cNvPr id="19" name="TextBox 18"/>
          <p:cNvSpPr txBox="1"/>
          <p:nvPr/>
        </p:nvSpPr>
        <p:spPr>
          <a:xfrm>
            <a:off x="7406640" y="2926080"/>
            <a:ext cx="3931920" cy="320040"/>
          </a:xfrm>
          <a:prstGeom prst="rect">
            <a:avLst/>
          </a:prstGeom>
          <a:noFill/>
        </p:spPr>
        <p:txBody>
          <a:bodyPr wrap="square" anchor="t" lIns="0" rIns="0" tIns="0" bIns="0">
            <a:spAutoFit/>
          </a:bodyPr>
          <a:lstStyle/>
          <a:p>
            <a:pPr algn="l">
              <a:spcAft>
                <a:spcPts val="400"/>
              </a:spcAft>
            </a:pPr>
            <a:r>
              <a:rPr sz="1300" b="1" i="0">
                <a:solidFill>
                  <a:srgbClr val="FFDC00"/>
                </a:solidFill>
                <a:latin typeface="Arial"/>
              </a:rPr>
              <a:t>Mocked or still to build</a:t>
            </a:r>
          </a:p>
        </p:txBody>
      </p:sp>
      <p:sp>
        <p:nvSpPr>
          <p:cNvPr id="20" name="TextBox 19"/>
          <p:cNvSpPr txBox="1"/>
          <p:nvPr/>
        </p:nvSpPr>
        <p:spPr>
          <a:xfrm>
            <a:off x="7406640" y="3273552"/>
            <a:ext cx="3931920" cy="1097280"/>
          </a:xfrm>
          <a:prstGeom prst="rect">
            <a:avLst/>
          </a:prstGeom>
          <a:noFill/>
        </p:spPr>
        <p:txBody>
          <a:bodyPr wrap="square" anchor="t" lIns="0" rIns="0" tIns="0" bIns="0">
            <a:spAutoFit/>
          </a:bodyPr>
          <a:lstStyle/>
          <a:p>
            <a:pPr algn="l">
              <a:spcAft>
                <a:spcPts val="400"/>
              </a:spcAft>
            </a:pPr>
            <a:r>
              <a:rPr sz="1300" b="0" i="1">
                <a:solidFill>
                  <a:srgbClr val="C8C8C8"/>
                </a:solidFill>
                <a:latin typeface="Arial"/>
              </a:rPr>
              <a:t>No log-in yet: the dashboard opens for any store address. Publishing works only on a store we hold a key for [not yet run on our dev store]. Weeks 8–9: connect stores through Shopify, test with our owner.</a:t>
            </a:r>
          </a:p>
        </p:txBody>
      </p:sp>
      <p:sp>
        <p:nvSpPr>
          <p:cNvPr id="21" name="Rectangle 20"/>
          <p:cNvSpPr/>
          <p:nvPr/>
        </p:nvSpPr>
        <p:spPr>
          <a:xfrm>
            <a:off x="7178040" y="4617720"/>
            <a:ext cx="4343400" cy="1188720"/>
          </a:xfrm>
          <a:prstGeom prst="rect">
            <a:avLst/>
          </a:prstGeom>
          <a:solidFill>
            <a:srgbClr val="FFF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06640" y="4736592"/>
            <a:ext cx="3931920" cy="320040"/>
          </a:xfrm>
          <a:prstGeom prst="rect">
            <a:avLst/>
          </a:prstGeom>
          <a:noFill/>
        </p:spPr>
        <p:txBody>
          <a:bodyPr wrap="square" anchor="t" lIns="0" rIns="0" tIns="0" bIns="0">
            <a:spAutoFit/>
          </a:bodyPr>
          <a:lstStyle/>
          <a:p>
            <a:pPr algn="l">
              <a:spcAft>
                <a:spcPts val="400"/>
              </a:spcAft>
            </a:pPr>
            <a:r>
              <a:rPr sz="1300" b="1" i="0">
                <a:solidFill>
                  <a:srgbClr val="231F20"/>
                </a:solidFill>
                <a:latin typeface="Arial"/>
              </a:rPr>
              <a:t>PROMPTS.md</a:t>
            </a:r>
          </a:p>
        </p:txBody>
      </p:sp>
      <p:sp>
        <p:nvSpPr>
          <p:cNvPr id="23" name="TextBox 22"/>
          <p:cNvSpPr txBox="1"/>
          <p:nvPr/>
        </p:nvSpPr>
        <p:spPr>
          <a:xfrm>
            <a:off x="7406640" y="5074920"/>
            <a:ext cx="3931920" cy="640080"/>
          </a:xfrm>
          <a:prstGeom prst="rect">
            <a:avLst/>
          </a:prstGeom>
          <a:noFill/>
        </p:spPr>
        <p:txBody>
          <a:bodyPr wrap="square" anchor="t" lIns="0" rIns="0" tIns="0" bIns="0">
            <a:spAutoFit/>
          </a:bodyPr>
          <a:lstStyle/>
          <a:p>
            <a:pPr algn="l">
              <a:spcAft>
                <a:spcPts val="400"/>
              </a:spcAft>
            </a:pPr>
            <a:r>
              <a:rPr sz="1200" b="0" i="0">
                <a:solidFill>
                  <a:srgbClr val="231F20"/>
                </a:solidFill>
                <a:latin typeface="Arial"/>
              </a:rPr>
              <a:t>github.com/NickWG113/shopfix-au (private, access on request) [PROMPTS.md to add]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412480" cy="1143000"/>
          </a:xfrm>
        </p:spPr>
        <p:txBody>
          <a:bodyPr anchor="ctr"/>
          <a:lstStyle/>
          <a:p>
            <a:r>
              <a:t>Live demo</a:t>
            </a:r>
          </a:p>
        </p:txBody>
      </p:sp>
      <p:sp>
        <p:nvSpPr>
          <p:cNvPr id="3" name="Rounded Rectangle 2"/>
          <p:cNvSpPr/>
          <p:nvPr/>
        </p:nvSpPr>
        <p:spPr>
          <a:xfrm>
            <a:off x="9464040" y="658368"/>
            <a:ext cx="2240280" cy="420624"/>
          </a:xfrm>
          <a:prstGeom prst="roundRect">
            <a:avLst>
              <a:gd name="adj" fmla="val 50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DC00"/>
                </a:solidFill>
                <a:latin typeface="Arial"/>
              </a:rPr>
              <a:t>≈ 4 MIN</a:t>
            </a:r>
          </a:p>
        </p:txBody>
      </p:sp>
      <p:sp>
        <p:nvSpPr>
          <p:cNvPr id="4" name="Rectangle 3"/>
          <p:cNvSpPr/>
          <p:nvPr/>
        </p:nvSpPr>
        <p:spPr>
          <a:xfrm>
            <a:off x="841248" y="1600200"/>
            <a:ext cx="4937760" cy="4206240"/>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1828800"/>
            <a:ext cx="4389120" cy="822960"/>
          </a:xfrm>
          <a:prstGeom prst="rect">
            <a:avLst/>
          </a:prstGeom>
          <a:noFill/>
        </p:spPr>
        <p:txBody>
          <a:bodyPr wrap="square" anchor="t" lIns="0" rIns="0" tIns="0" bIns="0">
            <a:spAutoFit/>
          </a:bodyPr>
          <a:lstStyle/>
          <a:p>
            <a:pPr algn="l">
              <a:spcAft>
                <a:spcPts val="400"/>
              </a:spcAft>
            </a:pPr>
            <a:r>
              <a:rPr sz="2600" b="1" i="0">
                <a:solidFill>
                  <a:srgbClr val="231F20"/>
                </a:solidFill>
                <a:latin typeface="Arial"/>
              </a:rPr>
              <a:t>Switch to the live demo</a:t>
            </a:r>
          </a:p>
        </p:txBody>
      </p:sp>
      <p:sp>
        <p:nvSpPr>
          <p:cNvPr id="6" name="TextBox 5"/>
          <p:cNvSpPr txBox="1"/>
          <p:nvPr/>
        </p:nvSpPr>
        <p:spPr>
          <a:xfrm>
            <a:off x="1143000" y="2743200"/>
            <a:ext cx="4389120" cy="2743200"/>
          </a:xfrm>
          <a:prstGeom prst="rect">
            <a:avLst/>
          </a:prstGeom>
          <a:noFill/>
        </p:spPr>
        <p:txBody>
          <a:bodyPr wrap="square" anchor="t" lIns="0" rIns="0" tIns="0" bIns="0">
            <a:spAutoFit/>
          </a:bodyPr>
          <a:lstStyle/>
          <a:p>
            <a:pPr algn="l">
              <a:spcAft>
                <a:spcPts val="1200"/>
              </a:spcAft>
            </a:pPr>
            <a:r>
              <a:rPr sz="1500" b="1" i="0">
                <a:solidFill>
                  <a:srgbClr val="231F20"/>
                </a:solidFill>
                <a:latin typeface="Arial"/>
              </a:rPr>
              <a:t xml:space="preserve">User: </a:t>
            </a:r>
            <a:r>
              <a:rPr sz="1500" b="0" i="1">
                <a:solidFill>
                  <a:srgbClr val="555555"/>
                </a:solidFill>
                <a:latin typeface="Arial"/>
              </a:rPr>
              <a:t>Owner of a small Australian skincare brand on Shopify</a:t>
            </a:r>
          </a:p>
          <a:p>
            <a:pPr algn="l">
              <a:spcAft>
                <a:spcPts val="1200"/>
              </a:spcAft>
            </a:pPr>
            <a:r>
              <a:rPr sz="1500" b="1" i="0">
                <a:solidFill>
                  <a:srgbClr val="231F20"/>
                </a:solidFill>
                <a:latin typeface="Arial"/>
              </a:rPr>
              <a:t xml:space="preserve">Scenario: </a:t>
            </a:r>
            <a:r>
              <a:rPr sz="1500" b="0" i="1">
                <a:solidFill>
                  <a:srgbClr val="555555"/>
                </a:solidFill>
                <a:latin typeface="Arial"/>
              </a:rPr>
              <a:t>They want more shoppers to buy, but can’t tell what to change and can’t edit code. We use frankbody.com, a real Australian store.</a:t>
            </a:r>
          </a:p>
          <a:p>
            <a:pPr algn="l">
              <a:spcAft>
                <a:spcPts val="1200"/>
              </a:spcAft>
            </a:pPr>
            <a:r>
              <a:rPr sz="1500" b="1" i="0">
                <a:solidFill>
                  <a:srgbClr val="231F20"/>
                </a:solidFill>
                <a:latin typeface="Arial"/>
              </a:rPr>
              <a:t xml:space="preserve">Watch for: </a:t>
            </a:r>
            <a:r>
              <a:rPr sz="1500" b="0" i="1">
                <a:solidFill>
                  <a:srgbClr val="555555"/>
                </a:solidFill>
                <a:latin typeface="Arial"/>
              </a:rPr>
              <a:t>Step 3: the agent changes the live page from one plain sentence</a:t>
            </a:r>
          </a:p>
        </p:txBody>
      </p:sp>
      <p:sp>
        <p:nvSpPr>
          <p:cNvPr id="7" name="TextBox 6"/>
          <p:cNvSpPr txBox="1"/>
          <p:nvPr/>
        </p:nvSpPr>
        <p:spPr>
          <a:xfrm>
            <a:off x="6126480" y="1600200"/>
            <a:ext cx="5394960" cy="320040"/>
          </a:xfrm>
          <a:prstGeom prst="rect">
            <a:avLst/>
          </a:prstGeom>
          <a:noFill/>
        </p:spPr>
        <p:txBody>
          <a:bodyPr wrap="square" anchor="t" lIns="0" rIns="0" tIns="0" bIns="0">
            <a:spAutoFit/>
          </a:bodyPr>
          <a:lstStyle/>
          <a:p>
            <a:pPr algn="l">
              <a:spcAft>
                <a:spcPts val="400"/>
              </a:spcAft>
            </a:pPr>
            <a:r>
              <a:rPr sz="1300" b="1" i="0">
                <a:solidFill>
                  <a:srgbClr val="555555"/>
                </a:solidFill>
                <a:latin typeface="Arial"/>
              </a:rPr>
              <a:t>Demo script</a:t>
            </a:r>
          </a:p>
        </p:txBody>
      </p:sp>
      <p:sp>
        <p:nvSpPr>
          <p:cNvPr id="8" name="Rectangle 7"/>
          <p:cNvSpPr/>
          <p:nvPr/>
        </p:nvSpPr>
        <p:spPr>
          <a:xfrm>
            <a:off x="6126480" y="2011680"/>
            <a:ext cx="5394960" cy="8229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09360" y="2194560"/>
            <a:ext cx="457200" cy="457200"/>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rgbClr val="231F20"/>
                </a:solidFill>
                <a:latin typeface="Arial"/>
              </a:rPr>
              <a:t>1</a:t>
            </a:r>
          </a:p>
        </p:txBody>
      </p:sp>
      <p:sp>
        <p:nvSpPr>
          <p:cNvPr id="10" name="TextBox 9"/>
          <p:cNvSpPr txBox="1"/>
          <p:nvPr/>
        </p:nvSpPr>
        <p:spPr>
          <a:xfrm>
            <a:off x="6949440" y="2212848"/>
            <a:ext cx="4389120" cy="5029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Home page: enter frankbody.com. The dashboard ranks three things to fix, each with its reason</a:t>
            </a:r>
          </a:p>
        </p:txBody>
      </p:sp>
      <p:sp>
        <p:nvSpPr>
          <p:cNvPr id="11" name="Rectangle 10"/>
          <p:cNvSpPr/>
          <p:nvPr/>
        </p:nvSpPr>
        <p:spPr>
          <a:xfrm>
            <a:off x="6126480" y="2971800"/>
            <a:ext cx="5394960" cy="8229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309360" y="3154680"/>
            <a:ext cx="457200" cy="457200"/>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rgbClr val="231F20"/>
                </a:solidFill>
                <a:latin typeface="Arial"/>
              </a:rPr>
              <a:t>2</a:t>
            </a:r>
          </a:p>
        </p:txBody>
      </p:sp>
      <p:sp>
        <p:nvSpPr>
          <p:cNvPr id="13" name="TextBox 12"/>
          <p:cNvSpPr txBox="1"/>
          <p:nvPr/>
        </p:nvSpPr>
        <p:spPr>
          <a:xfrm>
            <a:off x="6949440" y="3172968"/>
            <a:ext cx="4389120" cy="5029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Preview the Afterpay fix: it appears under the real price. Flip Before / After</a:t>
            </a:r>
          </a:p>
        </p:txBody>
      </p:sp>
      <p:sp>
        <p:nvSpPr>
          <p:cNvPr id="14" name="Rectangle 13"/>
          <p:cNvSpPr/>
          <p:nvPr/>
        </p:nvSpPr>
        <p:spPr>
          <a:xfrm>
            <a:off x="6126480" y="3931920"/>
            <a:ext cx="5394960" cy="8229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09360" y="4114800"/>
            <a:ext cx="457200" cy="457200"/>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rgbClr val="231F20"/>
                </a:solidFill>
                <a:latin typeface="Arial"/>
              </a:rPr>
              <a:t>3</a:t>
            </a:r>
          </a:p>
        </p:txBody>
      </p:sp>
      <p:sp>
        <p:nvSpPr>
          <p:cNvPr id="16" name="TextBox 15"/>
          <p:cNvSpPr txBox="1"/>
          <p:nvPr/>
        </p:nvSpPr>
        <p:spPr>
          <a:xfrm>
            <a:off x="6949440" y="4133088"/>
            <a:ext cx="4389120" cy="5029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Ask the agent: “Make Add to cart bigger and bright green, and add ‘Ships from Sydney in 1–2 days’”</a:t>
            </a:r>
          </a:p>
        </p:txBody>
      </p:sp>
      <p:sp>
        <p:nvSpPr>
          <p:cNvPr id="17" name="Rectangle 16"/>
          <p:cNvSpPr/>
          <p:nvPr/>
        </p:nvSpPr>
        <p:spPr>
          <a:xfrm>
            <a:off x="6126480" y="4892040"/>
            <a:ext cx="5394960" cy="8229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309360" y="5074920"/>
            <a:ext cx="457200" cy="457200"/>
          </a:xfrm>
          <a:prstGeom prst="ellipse">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rgbClr val="231F20"/>
                </a:solidFill>
                <a:latin typeface="Arial"/>
              </a:rPr>
              <a:t>4</a:t>
            </a:r>
          </a:p>
        </p:txBody>
      </p:sp>
      <p:sp>
        <p:nvSpPr>
          <p:cNvPr id="19" name="TextBox 18"/>
          <p:cNvSpPr txBox="1"/>
          <p:nvPr/>
        </p:nvSpPr>
        <p:spPr>
          <a:xfrm>
            <a:off x="6949440" y="5093208"/>
            <a:ext cx="4389120" cy="502920"/>
          </a:xfrm>
          <a:prstGeom prst="rect">
            <a:avLst/>
          </a:prstGeom>
          <a:noFill/>
        </p:spPr>
        <p:txBody>
          <a:bodyPr wrap="square" anchor="t" lIns="0" rIns="0" tIns="0" bIns="0">
            <a:spAutoFit/>
          </a:bodyPr>
          <a:lstStyle/>
          <a:p>
            <a:pPr algn="l">
              <a:spcAft>
                <a:spcPts val="400"/>
              </a:spcAft>
            </a:pPr>
            <a:r>
              <a:rPr sz="1300" b="0" i="0">
                <a:solidFill>
                  <a:srgbClr val="231F20"/>
                </a:solidFill>
                <a:latin typeface="Arial"/>
              </a:rPr>
              <a:t>It changes the page and flags the shipping claim for the owner to check. Press Approve and publish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412480" cy="1143000"/>
          </a:xfrm>
        </p:spPr>
        <p:txBody>
          <a:bodyPr anchor="ctr"/>
          <a:lstStyle/>
          <a:p>
            <a:r>
              <a:t>Backup: if the demo fails</a:t>
            </a:r>
          </a:p>
        </p:txBody>
      </p:sp>
      <p:sp>
        <p:nvSpPr>
          <p:cNvPr id="3" name="Rounded Rectangle 2"/>
          <p:cNvSpPr/>
          <p:nvPr/>
        </p:nvSpPr>
        <p:spPr>
          <a:xfrm>
            <a:off x="9464040" y="658368"/>
            <a:ext cx="2240280" cy="420624"/>
          </a:xfrm>
          <a:prstGeom prst="roundRect">
            <a:avLst>
              <a:gd name="adj" fmla="val 50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DC00"/>
                </a:solidFill>
                <a:latin typeface="Arial"/>
              </a:rPr>
              <a:t>ONLY IF NEEDED</a:t>
            </a:r>
          </a:p>
        </p:txBody>
      </p:sp>
      <p:pic>
        <p:nvPicPr>
          <p:cNvPr id="4" name="Rectangle 3 picture" descr="QuickLift dashboard for frankbody.com"/>
          <p:cNvPicPr>
            <a:picLocks noChangeAspect="1"/>
          </p:cNvPicPr>
          <p:nvPr/>
        </p:nvPicPr>
        <p:blipFill>
          <a:blip r:embed="rId3"/>
          <a:stretch>
            <a:fillRect/>
          </a:stretch>
        </p:blipFill>
        <p:spPr>
          <a:xfrm>
            <a:off x="841248" y="1600200"/>
            <a:ext cx="3383280" cy="2114550"/>
          </a:xfrm>
          <a:prstGeom prst="rect">
            <a:avLst/>
          </a:prstGeom>
          <a:ln w="9525">
            <a:solidFill>
              <a:srgbClr val="D0D0D0"/>
            </a:solidFill>
          </a:ln>
        </p:spPr>
      </p:pic>
      <p:sp>
        <p:nvSpPr>
          <p:cNvPr id="5" name="TextBox 4"/>
          <p:cNvSpPr txBox="1"/>
          <p:nvPr/>
        </p:nvSpPr>
        <p:spPr>
          <a:xfrm>
            <a:off x="841248" y="5029200"/>
            <a:ext cx="3383280" cy="731520"/>
          </a:xfrm>
          <a:prstGeom prst="rect">
            <a:avLst/>
          </a:prstGeom>
          <a:noFill/>
        </p:spPr>
        <p:txBody>
          <a:bodyPr wrap="square" anchor="t" lIns="0" rIns="0" tIns="0" bIns="0">
            <a:spAutoFit/>
          </a:bodyPr>
          <a:lstStyle/>
          <a:p>
            <a:pPr algn="l">
              <a:spcAft>
                <a:spcPts val="400"/>
              </a:spcAft>
            </a:pPr>
            <a:r>
              <a:rPr sz="1200" b="0" i="0">
                <a:solidFill>
                  <a:srgbClr val="231F20"/>
                </a:solidFill>
                <a:latin typeface="Arial"/>
              </a:rPr>
              <a:t>The owner’s dashboard: three things to fix on frankbody.com, most important first</a:t>
            </a:r>
          </a:p>
        </p:txBody>
      </p:sp>
      <p:pic>
        <p:nvPicPr>
          <p:cNvPr id="6" name="Rectangle 5 picture" descr="Preview with Afterpay instalments under the price"/>
          <p:cNvPicPr>
            <a:picLocks noChangeAspect="1"/>
          </p:cNvPicPr>
          <p:nvPr/>
        </p:nvPicPr>
        <p:blipFill>
          <a:blip r:embed="rId4"/>
          <a:stretch>
            <a:fillRect/>
          </a:stretch>
        </p:blipFill>
        <p:spPr>
          <a:xfrm>
            <a:off x="4453128" y="1600200"/>
            <a:ext cx="3383280" cy="2114550"/>
          </a:xfrm>
          <a:prstGeom prst="rect">
            <a:avLst/>
          </a:prstGeom>
          <a:ln w="9525">
            <a:solidFill>
              <a:srgbClr val="D0D0D0"/>
            </a:solidFill>
          </a:ln>
        </p:spPr>
      </p:pic>
      <p:sp>
        <p:nvSpPr>
          <p:cNvPr id="7" name="TextBox 6"/>
          <p:cNvSpPr txBox="1"/>
          <p:nvPr/>
        </p:nvSpPr>
        <p:spPr>
          <a:xfrm>
            <a:off x="4453128" y="5029200"/>
            <a:ext cx="3383280" cy="731520"/>
          </a:xfrm>
          <a:prstGeom prst="rect">
            <a:avLst/>
          </a:prstGeom>
          <a:noFill/>
        </p:spPr>
        <p:txBody>
          <a:bodyPr wrap="square" anchor="t" lIns="0" rIns="0" tIns="0" bIns="0">
            <a:spAutoFit/>
          </a:bodyPr>
          <a:lstStyle/>
          <a:p>
            <a:pPr algn="l">
              <a:spcAft>
                <a:spcPts val="400"/>
              </a:spcAft>
            </a:pPr>
            <a:r>
              <a:rPr sz="1200" b="0" i="0">
                <a:solidFill>
                  <a:srgbClr val="231F20"/>
                </a:solidFill>
                <a:latin typeface="Arial"/>
              </a:rPr>
              <a:t>A ready-made fix on the real page: Afterpay instalments under the price</a:t>
            </a:r>
          </a:p>
        </p:txBody>
      </p:sp>
      <p:pic>
        <p:nvPicPr>
          <p:cNvPr id="8" name="Rectangle 7 picture" descr="Preview after the agent's change, with its warning about the shipping claim"/>
          <p:cNvPicPr>
            <a:picLocks noChangeAspect="1"/>
          </p:cNvPicPr>
          <p:nvPr/>
        </p:nvPicPr>
        <p:blipFill>
          <a:blip r:embed="rId5"/>
          <a:stretch>
            <a:fillRect/>
          </a:stretch>
        </p:blipFill>
        <p:spPr>
          <a:xfrm>
            <a:off x="8065008" y="1600200"/>
            <a:ext cx="3383280" cy="2114550"/>
          </a:xfrm>
          <a:prstGeom prst="rect">
            <a:avLst/>
          </a:prstGeom>
          <a:ln w="9525">
            <a:solidFill>
              <a:srgbClr val="D0D0D0"/>
            </a:solidFill>
          </a:ln>
        </p:spPr>
      </p:pic>
      <p:sp>
        <p:nvSpPr>
          <p:cNvPr id="9" name="TextBox 8"/>
          <p:cNvSpPr txBox="1"/>
          <p:nvPr/>
        </p:nvSpPr>
        <p:spPr>
          <a:xfrm>
            <a:off x="8065008" y="5029200"/>
            <a:ext cx="3383280" cy="731520"/>
          </a:xfrm>
          <a:prstGeom prst="rect">
            <a:avLst/>
          </a:prstGeom>
          <a:noFill/>
        </p:spPr>
        <p:txBody>
          <a:bodyPr wrap="square" anchor="t" lIns="0" rIns="0" tIns="0" bIns="0">
            <a:spAutoFit/>
          </a:bodyPr>
          <a:lstStyle/>
          <a:p>
            <a:pPr algn="l">
              <a:spcAft>
                <a:spcPts val="400"/>
              </a:spcAft>
            </a:pPr>
            <a:r>
              <a:rPr sz="1200" b="0" i="0">
                <a:solidFill>
                  <a:srgbClr val="231F20"/>
                </a:solidFill>
                <a:latin typeface="Arial"/>
              </a:rPr>
              <a:t>The agent’s change: a bigger green button and a shipping line, flagged for the owner to confirm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274320"/>
            <a:ext cx="8412480" cy="1143000"/>
          </a:xfrm>
        </p:spPr>
        <p:txBody>
          <a:bodyPr anchor="ctr"/>
          <a:lstStyle/>
          <a:p>
            <a:r>
              <a:t>Questions</a:t>
            </a:r>
          </a:p>
        </p:txBody>
      </p:sp>
      <p:sp>
        <p:nvSpPr>
          <p:cNvPr id="3" name="Rounded Rectangle 2"/>
          <p:cNvSpPr/>
          <p:nvPr/>
        </p:nvSpPr>
        <p:spPr>
          <a:xfrm>
            <a:off x="9464040" y="658368"/>
            <a:ext cx="2240280" cy="420624"/>
          </a:xfrm>
          <a:prstGeom prst="roundRect">
            <a:avLst>
              <a:gd name="adj" fmla="val 50000"/>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400"/>
              </a:spcAft>
            </a:pPr>
            <a:r>
              <a:rPr sz="1200" b="1" i="0">
                <a:solidFill>
                  <a:srgbClr val="FFDC00"/>
                </a:solidFill>
                <a:latin typeface="Arial"/>
              </a:rPr>
              <a:t>5 MIN Q&amp;A</a:t>
            </a:r>
          </a:p>
        </p:txBody>
      </p:sp>
      <p:sp>
        <p:nvSpPr>
          <p:cNvPr id="4" name="Rectangle 3"/>
          <p:cNvSpPr/>
          <p:nvPr/>
        </p:nvSpPr>
        <p:spPr>
          <a:xfrm>
            <a:off x="841248" y="1600200"/>
            <a:ext cx="5669280" cy="4206240"/>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1828800"/>
            <a:ext cx="5120640" cy="822960"/>
          </a:xfrm>
          <a:prstGeom prst="rect">
            <a:avLst/>
          </a:prstGeom>
          <a:noFill/>
        </p:spPr>
        <p:txBody>
          <a:bodyPr wrap="square" anchor="t" lIns="0" rIns="0" tIns="0" bIns="0">
            <a:spAutoFit/>
          </a:bodyPr>
          <a:lstStyle/>
          <a:p>
            <a:pPr algn="l">
              <a:spcAft>
                <a:spcPts val="400"/>
              </a:spcAft>
            </a:pPr>
            <a:r>
              <a:rPr sz="3200" b="1" i="0">
                <a:solidFill>
                  <a:srgbClr val="FFDC00"/>
                </a:solidFill>
                <a:latin typeface="Arial"/>
              </a:rPr>
              <a:t>Thank you</a:t>
            </a:r>
          </a:p>
        </p:txBody>
      </p:sp>
      <p:sp>
        <p:nvSpPr>
          <p:cNvPr id="6" name="TextBox 5"/>
          <p:cNvSpPr txBox="1"/>
          <p:nvPr/>
        </p:nvSpPr>
        <p:spPr>
          <a:xfrm>
            <a:off x="1143000" y="2743200"/>
            <a:ext cx="5120640" cy="914400"/>
          </a:xfrm>
          <a:prstGeom prst="rect">
            <a:avLst/>
          </a:prstGeom>
          <a:noFill/>
        </p:spPr>
        <p:txBody>
          <a:bodyPr wrap="square" anchor="t" lIns="0" rIns="0" tIns="0" bIns="0">
            <a:spAutoFit/>
          </a:bodyPr>
          <a:lstStyle/>
          <a:p>
            <a:pPr algn="l">
              <a:spcAft>
                <a:spcPts val="400"/>
              </a:spcAft>
            </a:pPr>
            <a:r>
              <a:rPr sz="1600" b="0" i="0">
                <a:solidFill>
                  <a:srgbClr val="231F20"/>
                </a:solidFill>
                <a:latin typeface="Arial"/>
              </a:rPr>
              <a:t>QuickLift.ai · W14A-10</a:t>
            </a:r>
          </a:p>
        </p:txBody>
      </p:sp>
      <p:sp>
        <p:nvSpPr>
          <p:cNvPr id="7" name="Rectangle 6"/>
          <p:cNvSpPr/>
          <p:nvPr/>
        </p:nvSpPr>
        <p:spPr>
          <a:xfrm>
            <a:off x="6812280" y="1600200"/>
            <a:ext cx="4709160" cy="42062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40880" y="1783080"/>
            <a:ext cx="4297680" cy="320040"/>
          </a:xfrm>
          <a:prstGeom prst="rect">
            <a:avLst/>
          </a:prstGeom>
          <a:noFill/>
        </p:spPr>
        <p:txBody>
          <a:bodyPr wrap="square" anchor="t" lIns="0" rIns="0" tIns="0" bIns="0">
            <a:spAutoFit/>
          </a:bodyPr>
          <a:lstStyle/>
          <a:p>
            <a:pPr algn="l">
              <a:spcAft>
                <a:spcPts val="400"/>
              </a:spcAft>
            </a:pPr>
            <a:r>
              <a:rPr sz="1300" b="1" i="0">
                <a:solidFill>
                  <a:srgbClr val="555555"/>
                </a:solidFill>
                <a:latin typeface="Arial"/>
              </a:rPr>
              <a:t>Next: testing with users in Weeks 8–9</a:t>
            </a:r>
          </a:p>
        </p:txBody>
      </p:sp>
      <p:sp>
        <p:nvSpPr>
          <p:cNvPr id="9" name="TextBox 8"/>
          <p:cNvSpPr txBox="1"/>
          <p:nvPr/>
        </p:nvSpPr>
        <p:spPr>
          <a:xfrm>
            <a:off x="7040880" y="2194560"/>
            <a:ext cx="4297680" cy="3474720"/>
          </a:xfrm>
          <a:prstGeom prst="rect">
            <a:avLst/>
          </a:prstGeom>
          <a:noFill/>
        </p:spPr>
        <p:txBody>
          <a:bodyPr wrap="square" anchor="t" lIns="0" rIns="0" tIns="0" bIns="0">
            <a:spAutoFit/>
          </a:bodyPr>
          <a:lstStyle/>
          <a:p>
            <a:pPr algn="l">
              <a:spcAft>
                <a:spcPts val="400"/>
              </a:spcAft>
            </a:pPr>
            <a:r>
              <a:rPr sz="1400" b="0" i="0">
                <a:solidFill>
                  <a:srgbClr val="231F20"/>
                </a:solidFill>
                <a:latin typeface="Arial"/>
              </a:rPr>
              <a:t>Our participating Shopify owner, on their own store</a:t>
            </a:r>
          </a:p>
          <a:p>
            <a:pPr algn="l">
              <a:spcAft>
                <a:spcPts val="400"/>
              </a:spcAft>
            </a:pPr>
            <a:r>
              <a:rPr sz="1400" b="0" i="0">
                <a:solidFill>
                  <a:srgbClr val="231F20"/>
                </a:solidFill>
                <a:latin typeface="Arial"/>
              </a:rPr>
              <a:t>Check their store, switch on the fixes they agree with, and ask the agent for one change of their own</a:t>
            </a:r>
          </a:p>
          <a:p>
            <a:pPr algn="l">
              <a:spcAft>
                <a:spcPts val="400"/>
              </a:spcAft>
            </a:pPr>
            <a:r>
              <a:rPr sz="1400" b="0" i="0">
                <a:solidFill>
                  <a:srgbClr val="231F20"/>
                </a:solidFill>
                <a:latin typeface="Arial"/>
              </a:rPr>
              <a:t>They’d approve a change they would otherwise have paid a developer for, and come back for the next one</a:t>
            </a:r>
          </a:p>
        </p:txBody>
      </p:sp>
    </p:spTree>
  </p:cSld>
  <p:clrMapOvr>
    <a:masterClrMapping/>
  </p:clrMapOvr>
</p:sld>
</file>

<file path=ppt/theme/theme1.xml><?xml version="1.0" encoding="utf-8"?>
<a:theme xmlns:a="http://schemas.openxmlformats.org/drawingml/2006/main" name="Office Theme">
  <a:themeElements>
    <a:clrScheme name="UNSW_2020">
      <a:dk1>
        <a:srgbClr val="000000"/>
      </a:dk1>
      <a:lt1>
        <a:sysClr val="window" lastClr="FFFFFF"/>
      </a:lt1>
      <a:dk2>
        <a:srgbClr val="737373"/>
      </a:dk2>
      <a:lt2>
        <a:srgbClr val="F2F2F2"/>
      </a:lt2>
      <a:accent1>
        <a:srgbClr val="FFDC00"/>
      </a:accent1>
      <a:accent2>
        <a:srgbClr val="FF635D"/>
      </a:accent2>
      <a:accent3>
        <a:srgbClr val="3F61C4"/>
      </a:accent3>
      <a:accent4>
        <a:srgbClr val="1AC987"/>
      </a:accent4>
      <a:accent5>
        <a:srgbClr val="FA91B6"/>
      </a:accent5>
      <a:accent6>
        <a:srgbClr val="8A68C8"/>
      </a:accent6>
      <a:hlink>
        <a:srgbClr val="0000FF"/>
      </a:hlink>
      <a:folHlink>
        <a:srgbClr val="7030A0"/>
      </a:folHlink>
    </a:clrScheme>
    <a:fontScheme name="UNSW Clancy">
      <a:majorFont>
        <a:latin typeface="Clancy"/>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2_Accessible_Arial_PPT" id="{35D1416E-4DC4-DA42-A3DE-1B315CF266F1}" vid="{0EA36605-08ED-504A-A04C-54CB5DB3C297}"/>
    </a:ext>
  </a:extLst>
</a:theme>
</file>

<file path=ppt/theme/theme2.xml><?xml version="1.0" encoding="utf-8"?>
<a:theme xmlns:a="http://schemas.openxmlformats.org/drawingml/2006/main" name="1_Custom Design">
  <a:themeElements>
    <a:clrScheme name="Custom 1">
      <a:dk1>
        <a:srgbClr val="000000"/>
      </a:dk1>
      <a:lt1>
        <a:srgbClr val="FFFFFF"/>
      </a:lt1>
      <a:dk2>
        <a:srgbClr val="737373"/>
      </a:dk2>
      <a:lt2>
        <a:srgbClr val="F2F2F2"/>
      </a:lt2>
      <a:accent1>
        <a:srgbClr val="FFDC00"/>
      </a:accent1>
      <a:accent2>
        <a:srgbClr val="FF635D"/>
      </a:accent2>
      <a:accent3>
        <a:srgbClr val="3F61C4"/>
      </a:accent3>
      <a:accent4>
        <a:srgbClr val="1AC987"/>
      </a:accent4>
      <a:accent5>
        <a:srgbClr val="FA91B6"/>
      </a:accent5>
      <a:accent6>
        <a:srgbClr val="8A68C8"/>
      </a:accent6>
      <a:hlink>
        <a:srgbClr val="0000FF"/>
      </a:hlink>
      <a:folHlink>
        <a:srgbClr val="7030A0"/>
      </a:folHlink>
    </a:clrScheme>
    <a:fontScheme name="UNSW Clancy">
      <a:majorFont>
        <a:latin typeface="Clancy"/>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2_Accessible_Arial_PPT" id="{35D1416E-4DC4-DA42-A3DE-1B315CF266F1}" vid="{C0A0CACF-EFAE-294A-BE0D-A9BAB598AD87}"/>
    </a:ext>
  </a:extLst>
</a:theme>
</file>

<file path=ppt/theme/theme3.xml><?xml version="1.0" encoding="utf-8"?>
<a:theme xmlns:a="http://schemas.openxmlformats.org/drawingml/2006/main" name="2_Custom Design">
  <a:themeElements>
    <a:clrScheme name="UNSW_2020">
      <a:dk1>
        <a:srgbClr val="000000"/>
      </a:dk1>
      <a:lt1>
        <a:sysClr val="window" lastClr="FFFFFF"/>
      </a:lt1>
      <a:dk2>
        <a:srgbClr val="737373"/>
      </a:dk2>
      <a:lt2>
        <a:srgbClr val="F2F2F2"/>
      </a:lt2>
      <a:accent1>
        <a:srgbClr val="FFDC00"/>
      </a:accent1>
      <a:accent2>
        <a:srgbClr val="FF635D"/>
      </a:accent2>
      <a:accent3>
        <a:srgbClr val="3F61C4"/>
      </a:accent3>
      <a:accent4>
        <a:srgbClr val="1AC987"/>
      </a:accent4>
      <a:accent5>
        <a:srgbClr val="FA91B6"/>
      </a:accent5>
      <a:accent6>
        <a:srgbClr val="8A68C8"/>
      </a:accent6>
      <a:hlink>
        <a:srgbClr val="0000FF"/>
      </a:hlink>
      <a:folHlink>
        <a:srgbClr val="7030A0"/>
      </a:folHlink>
    </a:clrScheme>
    <a:fontScheme name="UNSW Clancy">
      <a:majorFont>
        <a:latin typeface="Clancy"/>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2_Accessible_Arial_PPT" id="{35D1416E-4DC4-DA42-A3DE-1B315CF266F1}" vid="{6EED41B3-9730-2E42-9E44-37EF66E49F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7C54DFADBD284F9DDDDF010F0B290D" ma:contentTypeVersion="10" ma:contentTypeDescription="Create a new document." ma:contentTypeScope="" ma:versionID="031fb899f05bf07d207057ce1170ce35">
  <xsd:schema xmlns:xsd="http://www.w3.org/2001/XMLSchema" xmlns:xs="http://www.w3.org/2001/XMLSchema" xmlns:p="http://schemas.microsoft.com/office/2006/metadata/properties" xmlns:ns2="08329f26-4308-4e14-8151-37c5b1ba0249" xmlns:ns3="4e5597a6-5818-4f8c-a8a6-bf4c9ae9bd1b" targetNamespace="http://schemas.microsoft.com/office/2006/metadata/properties" ma:root="true" ma:fieldsID="8a2adbbfef6aaff8735ba30791e40baa" ns2:_="" ns3:_="">
    <xsd:import namespace="08329f26-4308-4e14-8151-37c5b1ba0249"/>
    <xsd:import namespace="4e5597a6-5818-4f8c-a8a6-bf4c9ae9bd1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329f26-4308-4e14-8151-37c5b1ba02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e5597a6-5818-4f8c-a8a6-bf4c9ae9bd1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F36D4B-89AA-43AA-A4F8-41021B539501}">
  <ds:schemaRefs>
    <ds:schemaRef ds:uri="http://schemas.microsoft.com/sharepoint/v3/contenttype/forms"/>
  </ds:schemaRefs>
</ds:datastoreItem>
</file>

<file path=customXml/itemProps2.xml><?xml version="1.0" encoding="utf-8"?>
<ds:datastoreItem xmlns:ds="http://schemas.openxmlformats.org/officeDocument/2006/customXml" ds:itemID="{052C9556-BF89-4EB6-9C3D-FC2B56F9EB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329f26-4308-4e14-8151-37c5b1ba0249"/>
    <ds:schemaRef ds:uri="4e5597a6-5818-4f8c-a8a6-bf4c9ae9bd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4CE31FE-9010-4DD9-ACBF-74A5EE27FA83}">
  <ds:schemaRefs>
    <ds:schemaRef ds:uri="http://purl.org/dc/elements/1.1/"/>
    <ds:schemaRef ds:uri="http://purl.org/dc/terms/"/>
    <ds:schemaRef ds:uri="08329f26-4308-4e14-8151-37c5b1ba0249"/>
    <ds:schemaRef ds:uri="http://purl.org/dc/dcmitype/"/>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4e5597a6-5818-4f8c-a8a6-bf4c9ae9bd1b"/>
  </ds:schemaRefs>
</ds:datastoreItem>
</file>

<file path=docProps/app.xml><?xml version="1.0" encoding="utf-8"?>
<Properties xmlns="http://schemas.openxmlformats.org/officeDocument/2006/extended-properties" xmlns:vt="http://schemas.openxmlformats.org/officeDocument/2006/docPropsVTypes">
  <Template>Office Theme</Template>
  <TotalTime>11219</TotalTime>
  <Words>3618</Words>
  <Application>Microsoft Macintosh PowerPoint</Application>
  <PresentationFormat>Widescreen</PresentationFormat>
  <Paragraphs>345</Paragraphs>
  <Slides>21</Slides>
  <Notes>21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21</vt:i4>
      </vt:variant>
    </vt:vector>
  </HeadingPairs>
  <TitlesOfParts>
    <vt:vector size="27" baseType="lpstr">
      <vt:lpstr>Arial</vt:lpstr>
      <vt:lpstr>Calibri</vt:lpstr>
      <vt:lpstr>Roboto</vt:lpstr>
      <vt:lpstr>Office Theme</vt:lpstr>
      <vt:lpstr>1_Custom Design</vt:lpstr>
      <vt:lpstr>2_Custom Design</vt:lpstr>
      <vt:lpstr>INFS3605: Information Systems Innovation &amp; Transformation  Week 03 Define: Frame the Problem Worth Solving  </vt:lpstr>
      <vt:lpstr>Today’s run sheet</vt:lpstr>
      <vt:lpstr>Your Portfolio themes</vt:lpstr>
      <vt:lpstr>Discovery share-back</vt:lpstr>
      <vt:lpstr>Where we are: closing the first diamond</vt:lpstr>
      <vt:lpstr>Discovery across two weeks</vt:lpstr>
      <vt:lpstr>Finishing the Problem Framing Canvas</vt:lpstr>
      <vt:lpstr>The working block</vt:lpstr>
      <vt:lpstr>E · Problem behind the problem</vt:lpstr>
      <vt:lpstr>Example: a plumbing business</vt:lpstr>
      <vt:lpstr>F · Who cares about it?</vt:lpstr>
      <vt:lpstr>G · What type of problem is this?</vt:lpstr>
      <vt:lpstr>H · Reframing the problem</vt:lpstr>
      <vt:lpstr>H · Five lenses for reframing</vt:lpstr>
      <vt:lpstr>Reframes across the three streams</vt:lpstr>
      <vt:lpstr>Good HMWs spark ten ideas</vt:lpstr>
      <vt:lpstr>I · What does success look like?</vt:lpstr>
      <vt:lpstr>PowerPoint Presentation</vt:lpstr>
      <vt:lpstr>I · Problem statement v1</vt:lpstr>
      <vt:lpstr>Consultations</vt:lpstr>
      <vt:lpstr>Before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title1</dc:title>
  <dc:creator>Sandeep Mysore Seshadrinath</dc:creator>
  <cp:lastModifiedBy>Sandeep Mysore Seshadrinath</cp:lastModifiedBy>
  <cp:revision>2</cp:revision>
  <dcterms:created xsi:type="dcterms:W3CDTF">2024-05-13T01:48:24Z</dcterms:created>
  <dcterms:modified xsi:type="dcterms:W3CDTF">2026-09-25T00:20:23Z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0x010100E57C54DFADBD284F9DDDDF010F0B290D</vt:lpwstr>
  </property>
</Properties>
</file>