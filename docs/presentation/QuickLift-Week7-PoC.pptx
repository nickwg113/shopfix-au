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ink/ink1.xml" ContentType="application/inkml+xml"/>
  <Override PartName="/ppt/ink/ink2.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9" r:id="rId5"/>
    <p:sldMasterId id="2147483681" r:id="rId6"/>
  </p:sldMasterIdLst>
  <p:notesMasterIdLst>
    <p:notesMasterId r:id="rId28"/>
  </p:notesMasterIdLst>
  <p:handoutMasterIdLst>
    <p:handoutMasterId r:id="rId29"/>
  </p:handoutMasterIdLst>
  <p:sldIdLst>
    <p:sldId id="270" r:id="rId7"/>
    <p:sldId id="865" r:id="rId36"/>
    <p:sldId id="866" r:id="rId37"/>
    <p:sldId id="867" r:id="rId38"/>
    <p:sldId id="868" r:id="rId39"/>
    <p:sldId id="869" r:id="rId40"/>
    <p:sldId id="870" r:id="rId41"/>
    <p:sldId id="87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51" autoAdjust="0"/>
    <p:restoredTop sz="90342"/>
  </p:normalViewPr>
  <p:slideViewPr>
    <p:cSldViewPr snapToGrid="0" snapToObjects="1">
      <p:cViewPr varScale="1">
        <p:scale>
          <a:sx n="114" d="100"/>
          <a:sy n="114" d="100"/>
        </p:scale>
        <p:origin x="1088"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55" d="100"/>
          <a:sy n="155" d="100"/>
        </p:scale>
        <p:origin x="5984"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Mysore Seshadrinath" userId="bc05429b-4ceb-4df9-99a3-0ec7889e627d" providerId="ADAL" clId="{D277CF39-2C10-5F49-9727-D78391496FE5}"/>
    <pc:docChg chg="custSel delSld modSld">
      <pc:chgData name="Sandeep Mysore Seshadrinath" userId="bc05429b-4ceb-4df9-99a3-0ec7889e627d" providerId="ADAL" clId="{D277CF39-2C10-5F49-9727-D78391496FE5}" dt="2026-09-25T00:20:21.721" v="9" actId="20577"/>
      <pc:docMkLst>
        <pc:docMk/>
      </pc:docMkLst>
      <pc:sldChg chg="delSp modSp mod">
        <pc:chgData name="Sandeep Mysore Seshadrinath" userId="bc05429b-4ceb-4df9-99a3-0ec7889e627d" providerId="ADAL" clId="{D277CF39-2C10-5F49-9727-D78391496FE5}" dt="2026-09-25T00:20:21.721" v="9" actId="20577"/>
        <pc:sldMkLst>
          <pc:docMk/>
          <pc:sldMk cId="551899792" sldId="847"/>
        </pc:sldMkLst>
        <pc:spChg chg="del">
          <ac:chgData name="Sandeep Mysore Seshadrinath" userId="bc05429b-4ceb-4df9-99a3-0ec7889e627d" providerId="ADAL" clId="{D277CF39-2C10-5F49-9727-D78391496FE5}" dt="2026-09-25T00:20:16.446" v="6" actId="478"/>
          <ac:spMkLst>
            <pc:docMk/>
            <pc:sldMk cId="551899792" sldId="847"/>
            <ac:spMk id="14" creationId="{00000000-0000-0000-0000-000000000000}"/>
          </ac:spMkLst>
        </pc:spChg>
        <pc:spChg chg="mod">
          <ac:chgData name="Sandeep Mysore Seshadrinath" userId="bc05429b-4ceb-4df9-99a3-0ec7889e627d" providerId="ADAL" clId="{D277CF39-2C10-5F49-9727-D78391496FE5}" dt="2026-09-25T00:20:21.721" v="9" actId="20577"/>
          <ac:spMkLst>
            <pc:docMk/>
            <pc:sldMk cId="551899792" sldId="847"/>
            <ac:spMk id="17" creationId="{00000000-0000-0000-0000-000000000000}"/>
          </ac:spMkLst>
        </pc:spChg>
      </pc:sldChg>
      <pc:sldChg chg="del">
        <pc:chgData name="Sandeep Mysore Seshadrinath" userId="bc05429b-4ceb-4df9-99a3-0ec7889e627d" providerId="ADAL" clId="{D277CF39-2C10-5F49-9727-D78391496FE5}" dt="2026-09-25T00:20:02.724" v="5" actId="2696"/>
        <pc:sldMkLst>
          <pc:docMk/>
          <pc:sldMk cId="0" sldId="861"/>
        </pc:sldMkLst>
      </pc:sldChg>
      <pc:sldChg chg="modSp mod">
        <pc:chgData name="Sandeep Mysore Seshadrinath" userId="bc05429b-4ceb-4df9-99a3-0ec7889e627d" providerId="ADAL" clId="{D277CF39-2C10-5F49-9727-D78391496FE5}" dt="2026-09-25T00:19:30.691" v="4" actId="20577"/>
        <pc:sldMkLst>
          <pc:docMk/>
          <pc:sldMk cId="0" sldId="862"/>
        </pc:sldMkLst>
        <pc:spChg chg="mod">
          <ac:chgData name="Sandeep Mysore Seshadrinath" userId="bc05429b-4ceb-4df9-99a3-0ec7889e627d" providerId="ADAL" clId="{D277CF39-2C10-5F49-9727-D78391496FE5}" dt="2026-09-25T00:19:30.691" v="4" actId="20577"/>
          <ac:spMkLst>
            <pc:docMk/>
            <pc:sldMk cId="0" sldId="862"/>
            <ac:spMk id="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425C8D-C5AF-9F4F-9E24-5C2DC72753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021E46C-AA4E-214A-A45C-A09C6AE0B0E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A7442EA-0DF9-924B-8435-17D563E57ACA}" type="datetimeFigureOut">
              <a:rPr lang="en-US" smtClean="0"/>
              <a:t>9/25/26</a:t>
            </a:fld>
            <a:endParaRPr lang="en-US"/>
          </a:p>
        </p:txBody>
      </p:sp>
      <p:sp>
        <p:nvSpPr>
          <p:cNvPr id="4" name="Footer Placeholder 3">
            <a:extLst>
              <a:ext uri="{FF2B5EF4-FFF2-40B4-BE49-F238E27FC236}">
                <a16:creationId xmlns:a16="http://schemas.microsoft.com/office/drawing/2014/main" id="{40AAFBB1-2BB3-DA46-A158-0722D5A3105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D7EA5-B09A-264C-ABF4-E27232AD2E1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321C2-EC5F-E04A-AFC0-A1F418A559B9}" type="slidenum">
              <a:rPr lang="en-US" smtClean="0"/>
              <a:t>‹#›</a:t>
            </a:fld>
            <a:endParaRPr lang="en-US"/>
          </a:p>
        </p:txBody>
      </p:sp>
    </p:spTree>
    <p:extLst>
      <p:ext uri="{BB962C8B-B14F-4D97-AF65-F5344CB8AC3E}">
        <p14:creationId xmlns:p14="http://schemas.microsoft.com/office/powerpoint/2010/main" val="194638142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56"/>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69"/>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C955B6-3D2D-2944-B7F4-FE074C92CB41}" type="datetimeFigureOut">
              <a:rPr lang="en-US" smtClean="0"/>
              <a:t>9/25/26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46ACD0-BE8A-3D4B-8E89-B0E6ACFF594E}" type="slidenum">
              <a:rPr lang="en-US" smtClean="0"/>
              <a:t>‹#›</a:t>
            </a:fld>
            <a:endParaRPr lang="en-US"/>
          </a:p>
        </p:txBody>
      </p:sp>
    </p:spTree>
    <p:extLst>
      <p:ext uri="{BB962C8B-B14F-4D97-AF65-F5344CB8AC3E}">
        <p14:creationId xmlns:p14="http://schemas.microsoft.com/office/powerpoint/2010/main" val="3859273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who we are and the product name. QuickLift helps small Australian Shopify stores fix the things that stop people buying. Don't stay on this slide long.</a:t>
            </a:r>
          </a:p>
        </p:txBody>
      </p:sp>
      <p:sp>
        <p:nvSpPr>
          <p:cNvPr id="4" name="Slide Number Placeholder 3"/>
          <p:cNvSpPr>
            <a:spLocks noGrp="1"/>
          </p:cNvSpPr>
          <p:nvPr>
            <p:ph type="sldNum" sz="quarter" idx="5"/>
          </p:nvPr>
        </p:nvSpPr>
        <p:spPr/>
        <p:txBody>
          <a:bodyPr/>
          <a:lstStyle/>
          <a:p>
            <a:fld id="{6246ACD0-BE8A-3D4B-8E89-B0E6ACFF594E}" type="slidenum">
              <a:rPr lang="en-US" smtClean="0"/>
              <a:t>1</a:t>
            </a:fld>
            <a:endParaRPr lang="en-US"/>
          </a:p>
        </p:txBody>
      </p:sp>
    </p:spTree>
    <p:extLst>
      <p:ext uri="{BB962C8B-B14F-4D97-AF65-F5344CB8AC3E}">
        <p14:creationId xmlns:p14="http://schemas.microsoft.com/office/powerpoint/2010/main" val="3428367042"/>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40 seconds. Start with the problem in one line, then the owner's quote, since that's our strongest evidence. Baymard backs up the point about surprise costs at checkout, and the Frank Body example shows even a big store misses this stuff.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50 seconds. This is the dashboard the owner sees. We only do Shopify because every store publishes its pages and products, which means we can check a store without installing anything. We didn't narrow it to one type of shop because the same problems turn up across ecommerce. Owners see changes on their own page first, because our Week 2 research said trust was the big barrier. And we don't make up facts, which is why there's no automatic reviews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a minute. This is the main part. Right now, changing anything on a Shopify page means finding the right theme file and writing code, or paying someone. With QuickLift the owner just types what they want, or picks one of the ideas the agent comes up with for that page. The agent reads the page, writes the code for that store's theme and adds the change to the real page, marked so it's easy to spot. The owner checks it, including anything the agent flags, like a shipping time it can't know, and then approves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30 seconds. It's a Node and Express web app, with Claude doing the agent work. There's no database, each check reads the store live. Be upfront that there's no log-in yet and that publishing only works on a store we have a key for. PROMPTS.md is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 minutes. Use the demo bar at the top, or keys 1, 2 and 3, to jump between pages. Open frankbody.com once before we present so the page and the agent's ideas are already loaded. If something breaks, say so and switch to the backup slide or the recording.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use this if the live demo fails. We also have a recording of the whole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E976E31-1EA1-274A-A1AD-5915E61D3EEC}"/>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UNSW Sydney Logo">
            <a:extLst>
              <a:ext uri="{FF2B5EF4-FFF2-40B4-BE49-F238E27FC236}">
                <a16:creationId xmlns:a16="http://schemas.microsoft.com/office/drawing/2014/main" id="{F0BF8575-4955-BC4A-80DE-4BF637C59C7B}"/>
              </a:ext>
            </a:extLst>
          </p:cNvPr>
          <p:cNvPicPr>
            <a:picLocks noChangeAspect="1"/>
          </p:cNvPicPr>
          <p:nvPr userDrawn="1"/>
        </p:nvPicPr>
        <p:blipFill>
          <a:blip r:embed="rId2"/>
          <a:srcRect/>
          <a:stretch/>
        </p:blipFill>
        <p:spPr>
          <a:xfrm>
            <a:off x="10593240" y="522000"/>
            <a:ext cx="1188000" cy="1240241"/>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lvl1pPr>
              <a:defRPr>
                <a:latin typeface="Arial" panose="020B0604020202020204" pitchFamily="34" charset="0"/>
                <a:cs typeface="Arial" panose="020B0604020202020204" pitchFamily="34" charset="0"/>
              </a:defRPr>
            </a:lvl1pPr>
          </a:lstStyle>
          <a:p>
            <a:pPr lvl="0"/>
            <a:r>
              <a:rPr lang="en-GB" dirty="0"/>
              <a:t>Secondary details go here</a:t>
            </a:r>
          </a:p>
        </p:txBody>
      </p:sp>
    </p:spTree>
    <p:extLst>
      <p:ext uri="{BB962C8B-B14F-4D97-AF65-F5344CB8AC3E}">
        <p14:creationId xmlns:p14="http://schemas.microsoft.com/office/powerpoint/2010/main" val="3319605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61725" y="-859599"/>
            <a:ext cx="7756149" cy="8354779"/>
          </a:xfrm>
          <a:prstGeom prst="rect">
            <a:avLst/>
          </a:prstGeom>
        </p:spPr>
      </p:pic>
      <p:sp>
        <p:nvSpPr>
          <p:cNvPr id="7" name="Rectangle 6">
            <a:extLst>
              <a:ext uri="{FF2B5EF4-FFF2-40B4-BE49-F238E27FC236}">
                <a16:creationId xmlns:a16="http://schemas.microsoft.com/office/drawing/2014/main" id="{8FBC9DD3-2081-9D4A-BCDD-FD7DDC635932}"/>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16367954-2926-486A-95D7-D57A05D0A1ED}"/>
              </a:ext>
            </a:extLst>
          </p:cNvPr>
          <p:cNvPicPr>
            <a:picLocks noChangeAspect="1"/>
          </p:cNvPicPr>
          <p:nvPr userDrawn="1"/>
        </p:nvPicPr>
        <p:blipFill>
          <a:blip r:embed="rId3"/>
          <a:srcRect/>
          <a:stretch/>
        </p:blipFill>
        <p:spPr>
          <a:xfrm>
            <a:off x="10667151" y="5261593"/>
            <a:ext cx="1188000" cy="1240241"/>
          </a:xfrm>
          <a:prstGeom prst="rect">
            <a:avLst/>
          </a:prstGeom>
        </p:spPr>
      </p:pic>
    </p:spTree>
    <p:extLst>
      <p:ext uri="{BB962C8B-B14F-4D97-AF65-F5344CB8AC3E}">
        <p14:creationId xmlns:p14="http://schemas.microsoft.com/office/powerpoint/2010/main" val="31868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4"/>
            <a:ext cx="1189685" cy="1242000"/>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481362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1D9F833-BA4F-E348-9506-0D3D621C75CA}"/>
              </a:ext>
            </a:extLst>
          </p:cNvPr>
          <p:cNvSpPr/>
          <p:nvPr userDrawn="1"/>
        </p:nvSpPr>
        <p:spPr>
          <a:xfrm>
            <a:off x="6740525" y="1"/>
            <a:ext cx="5453294" cy="501575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FF675AE0-8F62-485C-BF3D-6598839BADFF}"/>
              </a:ext>
            </a:extLst>
          </p:cNvPr>
          <p:cNvPicPr>
            <a:picLocks noChangeAspect="1"/>
          </p:cNvPicPr>
          <p:nvPr userDrawn="1"/>
        </p:nvPicPr>
        <p:blipFill>
          <a:blip r:embed="rId2"/>
          <a:srcRect/>
          <a:stretch/>
        </p:blipFill>
        <p:spPr>
          <a:xfrm>
            <a:off x="10735975" y="5300921"/>
            <a:ext cx="1188000" cy="1240241"/>
          </a:xfrm>
          <a:prstGeom prst="rect">
            <a:avLst/>
          </a:prstGeom>
        </p:spPr>
      </p:pic>
    </p:spTree>
    <p:extLst>
      <p:ext uri="{BB962C8B-B14F-4D97-AF65-F5344CB8AC3E}">
        <p14:creationId xmlns:p14="http://schemas.microsoft.com/office/powerpoint/2010/main" val="3619429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1E16058-FC97-C34C-A94D-1AEBA1319CEF}"/>
              </a:ext>
            </a:extLst>
          </p:cNvPr>
          <p:cNvSpPr/>
          <p:nvPr userDrawn="1"/>
        </p:nvSpPr>
        <p:spPr>
          <a:xfrm>
            <a:off x="1" y="0"/>
            <a:ext cx="12191999" cy="5000624"/>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Shape, circle&#10;&#10;Description automatically generated">
            <a:extLst>
              <a:ext uri="{FF2B5EF4-FFF2-40B4-BE49-F238E27FC236}">
                <a16:creationId xmlns:a16="http://schemas.microsoft.com/office/drawing/2014/main" id="{B927EE41-A83A-A9AD-F2C3-0827F1440F60}"/>
              </a:ext>
            </a:extLst>
          </p:cNvPr>
          <p:cNvPicPr>
            <a:picLocks noChangeAspect="1"/>
          </p:cNvPicPr>
          <p:nvPr userDrawn="1"/>
        </p:nvPicPr>
        <p:blipFill>
          <a:blip r:embed="rId2"/>
          <a:stretch>
            <a:fillRect/>
          </a:stretch>
        </p:blipFill>
        <p:spPr>
          <a:xfrm rot="3024056">
            <a:off x="3583339" y="-257331"/>
            <a:ext cx="6243723" cy="7372662"/>
          </a:xfrm>
          <a:prstGeom prst="rect">
            <a:avLst/>
          </a:prstGeom>
        </p:spPr>
      </p:pic>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21B83991-6CB1-46A6-A70E-59562F1A4541}"/>
              </a:ext>
            </a:extLst>
          </p:cNvPr>
          <p:cNvPicPr>
            <a:picLocks noChangeAspect="1"/>
          </p:cNvPicPr>
          <p:nvPr userDrawn="1"/>
        </p:nvPicPr>
        <p:blipFill>
          <a:blip r:embed="rId3"/>
          <a:srcRect/>
          <a:stretch/>
        </p:blipFill>
        <p:spPr>
          <a:xfrm>
            <a:off x="10735975" y="5300921"/>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325985" y="3515321"/>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6786584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4076737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GB"/>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a:xfrm>
            <a:off x="410400" y="4017488"/>
            <a:ext cx="4730400" cy="370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endParaRPr lang="en-AU" dirty="0"/>
          </a:p>
        </p:txBody>
      </p:sp>
    </p:spTree>
    <p:extLst>
      <p:ext uri="{BB962C8B-B14F-4D97-AF65-F5344CB8AC3E}">
        <p14:creationId xmlns:p14="http://schemas.microsoft.com/office/powerpoint/2010/main" val="15166831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228189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47612" y="1428645"/>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70767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1748171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93220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descr="Click to edit body text styles on the left side of slide">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descr="Click to edit body text styles on the right side of slide">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22148007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37812947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96049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745549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dirty="0"/>
              <a:t>Click to edit Master title style</a:t>
            </a:r>
            <a:endParaRPr lang="en-US" dirty="0"/>
          </a:p>
        </p:txBody>
      </p:sp>
    </p:spTree>
    <p:extLst>
      <p:ext uri="{BB962C8B-B14F-4D97-AF65-F5344CB8AC3E}">
        <p14:creationId xmlns:p14="http://schemas.microsoft.com/office/powerpoint/2010/main" val="17165890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98858789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24404524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2259148" y="-16679"/>
            <a:ext cx="5763303" cy="6208123"/>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5011455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2"/>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983526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 Title and content">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a:t>Click to edit Master title style</a:t>
            </a:r>
          </a:p>
        </p:txBody>
      </p:sp>
      <p:sp>
        <p:nvSpPr>
          <p:cNvPr id="8" name="Text Placeholder 7"/>
          <p:cNvSpPr>
            <a:spLocks noGrp="1"/>
          </p:cNvSpPr>
          <p:nvPr>
            <p:ph type="body" idx="10"/>
          </p:nvPr>
        </p:nvSpPr>
        <p:spPr>
          <a:xfrm>
            <a:off x="624417" y="1509185"/>
            <a:ext cx="10945283" cy="4127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9606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263216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3963237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7077420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9973841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pic>
        <p:nvPicPr>
          <p:cNvPr id="2" name="Picture 1" descr="Shape&#10;&#10;Description automatically generated">
            <a:extLst>
              <a:ext uri="{FF2B5EF4-FFF2-40B4-BE49-F238E27FC236}">
                <a16:creationId xmlns:a16="http://schemas.microsoft.com/office/drawing/2014/main" id="{8903AC5B-4BEF-3F81-2082-0A3885418190}"/>
              </a:ext>
            </a:extLst>
          </p:cNvPr>
          <p:cNvPicPr>
            <a:picLocks noChangeAspect="1"/>
          </p:cNvPicPr>
          <p:nvPr userDrawn="1"/>
        </p:nvPicPr>
        <p:blipFill rotWithShape="1">
          <a:blip r:embed="rId2">
            <a:alphaModFix amt="70000"/>
          </a:blip>
          <a:srcRect t="5321" r="1116" b="5321"/>
          <a:stretch/>
        </p:blipFill>
        <p:spPr>
          <a:xfrm>
            <a:off x="4339800" y="1"/>
            <a:ext cx="7045376" cy="6858000"/>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819690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7491040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0507000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4605044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410400" y="3211200"/>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051293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2186856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838487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0228204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938138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7880360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3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8841172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0773237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23168829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046845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theme" Target="../theme/theme2.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Relationship Id="rId16" Type="http://schemas.openxmlformats.org/officeDocument/2006/relationships/slideLayout" Target="../slideLayouts/slideLayout37.xml"/><Relationship Id="rId17" Type="http://schemas.openxmlformats.org/officeDocument/2006/relationships/slideLayout" Target="../slideLayouts/slideLayout38.xml"/><Relationship Id="rId18" Type="http://schemas.openxmlformats.org/officeDocument/2006/relationships/slideLayout" Target="../slideLayouts/slideLayout39.xml"/><Relationship Id="rId19" Type="http://schemas.openxmlformats.org/officeDocument/2006/relationships/theme" Target="../theme/theme3.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
            <a:extLst>
              <a:ext uri="{FF2B5EF4-FFF2-40B4-BE49-F238E27FC236}">
                <a16:creationId xmlns:a16="http://schemas.microsoft.com/office/drawing/2014/main" id="{70841D79-9C5E-1449-B506-564E0213A8C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dirty="0"/>
              <a:t>Title goes here</a:t>
            </a:r>
            <a:endParaRPr lang="en-US" dirty="0"/>
          </a:p>
        </p:txBody>
      </p:sp>
      <p:sp>
        <p:nvSpPr>
          <p:cNvPr id="3" name="Text Placeholder 2" descr="Click to add secondary details&#10;">
            <a:extLst>
              <a:ext uri="{FF2B5EF4-FFF2-40B4-BE49-F238E27FC236}">
                <a16:creationId xmlns:a16="http://schemas.microsoft.com/office/drawing/2014/main" id="{4A50093E-B476-CE4A-816B-226988C60D31}"/>
              </a:ext>
            </a:extLst>
          </p:cNvPr>
          <p:cNvSpPr>
            <a:spLocks noGrp="1"/>
          </p:cNvSpPr>
          <p:nvPr>
            <p:ph type="body" idx="1"/>
          </p:nvPr>
        </p:nvSpPr>
        <p:spPr>
          <a:xfrm>
            <a:off x="410400" y="6289200"/>
            <a:ext cx="4730400" cy="370800"/>
          </a:xfrm>
          <a:prstGeom prst="rect">
            <a:avLst/>
          </a:prstGeom>
        </p:spPr>
        <p:txBody>
          <a:bodyPr vert="horz" lIns="91440" tIns="45720" rIns="91440" bIns="45720" rtlCol="0">
            <a:normAutofit/>
          </a:bodyPr>
          <a:lstStyle/>
          <a:p>
            <a:pPr lvl="0"/>
            <a:r>
              <a:rPr lang="en-GB" dirty="0"/>
              <a:t>Click to edit Master text styles</a:t>
            </a:r>
          </a:p>
        </p:txBody>
      </p:sp>
    </p:spTree>
    <p:extLst>
      <p:ext uri="{BB962C8B-B14F-4D97-AF65-F5344CB8AC3E}">
        <p14:creationId xmlns:p14="http://schemas.microsoft.com/office/powerpoint/2010/main" val="1803925614"/>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2" r:id="rId3"/>
    <p:sldLayoutId id="2147483651" r:id="rId4"/>
    <p:sldLayoutId id="2147483653" r:id="rId5"/>
    <p:sldLayoutId id="2147483650" r:id="rId6"/>
    <p:sldLayoutId id="2147483732" r:id="rId7"/>
    <p:sldLayoutId id="2147483762" r:id="rId8"/>
    <p:sldLayoutId id="2147483764" r:id="rId9"/>
  </p:sldLayoutIdLst>
  <p:txStyles>
    <p:titleStyle>
      <a:lvl1pPr marL="0" indent="0" algn="l" defTabSz="914400" rtl="0" eaLnBrk="1" latinLnBrk="0" hangingPunct="1">
        <a:lnSpc>
          <a:spcPct val="100000"/>
        </a:lnSpc>
        <a:spcBef>
          <a:spcPct val="0"/>
        </a:spcBef>
        <a:buNone/>
        <a:defRPr sz="110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descr="Click to edit body text styles">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3090FF-0D07-44EF-BE91-92BA9AB775B9}" type="datetimeFigureOut">
              <a:rPr lang="en-AU" smtClean="0"/>
              <a:t>25/9/2026</a:t>
            </a:fld>
            <a:endParaRPr lang="en-AU"/>
          </a:p>
        </p:txBody>
      </p:sp>
      <p:sp>
        <p:nvSpPr>
          <p:cNvPr id="5" name="Footer Placeholder 4">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9375D7-070A-4959-9224-FB5E66F2B1B3}" type="slidenum">
              <a:rPr lang="en-AU" smtClean="0"/>
              <a:t>‹#›</a:t>
            </a:fld>
            <a:endParaRPr lang="en-AU"/>
          </a:p>
        </p:txBody>
      </p:sp>
      <p:sp>
        <p:nvSpPr>
          <p:cNvPr id="8" name="Rectangle 7">
            <a:extLst>
              <a:ext uri="{FF2B5EF4-FFF2-40B4-BE49-F238E27FC236}">
                <a16:creationId xmlns:a16="http://schemas.microsoft.com/office/drawing/2014/main" id="{FA7CA2B4-C8AB-4F09-B260-BA7609DF079D}"/>
              </a:ext>
            </a:extLst>
          </p:cNvPr>
          <p:cNvSpPr/>
          <p:nvPr userDrawn="1"/>
        </p:nvSpPr>
        <p:spPr>
          <a:xfrm rot="5400000">
            <a:off x="5706290" y="372291"/>
            <a:ext cx="779419" cy="12192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UNSW Sydney Logo">
            <a:extLst>
              <a:ext uri="{FF2B5EF4-FFF2-40B4-BE49-F238E27FC236}">
                <a16:creationId xmlns:a16="http://schemas.microsoft.com/office/drawing/2014/main" id="{84EF7EA2-D124-438C-BF7A-68B3D6878301}"/>
              </a:ext>
            </a:extLst>
          </p:cNvPr>
          <p:cNvPicPr>
            <a:picLocks noChangeAspect="1"/>
          </p:cNvPicPr>
          <p:nvPr userDrawn="1"/>
        </p:nvPicPr>
        <p:blipFill>
          <a:blip r:embed="rId14"/>
          <a:srcRect/>
          <a:stretch/>
        </p:blipFill>
        <p:spPr>
          <a:xfrm>
            <a:off x="11526898" y="6196827"/>
            <a:ext cx="540000" cy="563746"/>
          </a:xfrm>
          <a:prstGeom prst="rect">
            <a:avLst/>
          </a:prstGeom>
        </p:spPr>
      </p:pic>
    </p:spTree>
    <p:extLst>
      <p:ext uri="{BB962C8B-B14F-4D97-AF65-F5344CB8AC3E}">
        <p14:creationId xmlns:p14="http://schemas.microsoft.com/office/powerpoint/2010/main" val="3623885719"/>
      </p:ext>
    </p:extLst>
  </p:cSld>
  <p:clrMap bg1="lt1" tx1="dk1" bg2="lt2" tx2="dk2" accent1="accent1" accent2="accent2" accent3="accent3" accent4="accent4" accent5="accent5" accent6="accent6" hlink="hlink" folHlink="folHlink"/>
  <p:sldLayoutIdLst>
    <p:sldLayoutId id="2147483671" r:id="rId1"/>
    <p:sldLayoutId id="2147483673" r:id="rId2"/>
    <p:sldLayoutId id="2147483674" r:id="rId3"/>
    <p:sldLayoutId id="2147483675" r:id="rId4"/>
    <p:sldLayoutId id="2147483690" r:id="rId5"/>
    <p:sldLayoutId id="2147483691" r:id="rId6"/>
    <p:sldLayoutId id="2147483693" r:id="rId7"/>
    <p:sldLayoutId id="2147483745" r:id="rId8"/>
    <p:sldLayoutId id="2147483746" r:id="rId9"/>
    <p:sldLayoutId id="2147483747" r:id="rId10"/>
    <p:sldLayoutId id="2147483748" r:id="rId11"/>
    <p:sldLayoutId id="2147483765" r:id="rId12"/>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olidFill>
                <a:latin typeface="Arial" panose="020B0604020202020204" pitchFamily="34" charset="0"/>
                <a:cs typeface="Arial" panose="020B0604020202020204" pitchFamily="34" charset="0"/>
              </a:defRPr>
            </a:lvl1pPr>
          </a:lstStyle>
          <a:p>
            <a:fld id="{2A3090FF-0D07-44EF-BE91-92BA9AB775B9}" type="datetimeFigureOut">
              <a:rPr lang="en-AU" smtClean="0"/>
              <a:pPr/>
              <a:t>25/9/2026</a:t>
            </a:fld>
            <a:endParaRPr lang="en-AU" dirty="0"/>
          </a:p>
        </p:txBody>
      </p:sp>
      <p:sp>
        <p:nvSpPr>
          <p:cNvPr id="5" name="Footer Placeholder 4" descr="Click to add a footer">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latin typeface="Arial" panose="020B0604020202020204" pitchFamily="34" charset="0"/>
                <a:cs typeface="Arial" panose="020B0604020202020204" pitchFamily="34" charset="0"/>
              </a:defRPr>
            </a:lvl1pPr>
          </a:lstStyle>
          <a:p>
            <a:endParaRPr lang="en-AU" dirty="0"/>
          </a:p>
        </p:txBody>
      </p:sp>
      <p:sp>
        <p:nvSpPr>
          <p:cNvPr id="6" name="Slide Number Placeholder 5" descr="Click to add page number">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Arial" panose="020B0604020202020204" pitchFamily="34" charset="0"/>
                <a:cs typeface="Arial" panose="020B0604020202020204" pitchFamily="34" charset="0"/>
              </a:defRPr>
            </a:lvl1pPr>
          </a:lstStyle>
          <a:p>
            <a:fld id="{009375D7-070A-4959-9224-FB5E66F2B1B3}" type="slidenum">
              <a:rPr lang="en-AU" smtClean="0"/>
              <a:pPr/>
              <a:t>‹#›</a:t>
            </a:fld>
            <a:endParaRPr lang="en-AU"/>
          </a:p>
        </p:txBody>
      </p:sp>
      <p:sp>
        <p:nvSpPr>
          <p:cNvPr id="7" name="Rectangle 6">
            <a:extLst>
              <a:ext uri="{FF2B5EF4-FFF2-40B4-BE49-F238E27FC236}">
                <a16:creationId xmlns:a16="http://schemas.microsoft.com/office/drawing/2014/main" id="{07FD9B66-E5D8-458F-B15F-FCAE5CAD781F}"/>
              </a:ext>
            </a:extLst>
          </p:cNvPr>
          <p:cNvSpPr/>
          <p:nvPr userDrawn="1"/>
        </p:nvSpPr>
        <p:spPr>
          <a:xfrm rot="5400000">
            <a:off x="8353696" y="3019698"/>
            <a:ext cx="6858002" cy="818606"/>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NSW Sydney Logo">
            <a:extLst>
              <a:ext uri="{FF2B5EF4-FFF2-40B4-BE49-F238E27FC236}">
                <a16:creationId xmlns:a16="http://schemas.microsoft.com/office/drawing/2014/main" id="{725B2B7F-7BA2-426B-BEF7-9C26ECD9179C}"/>
              </a:ext>
            </a:extLst>
          </p:cNvPr>
          <p:cNvPicPr>
            <a:picLocks noChangeAspect="1"/>
          </p:cNvPicPr>
          <p:nvPr userDrawn="1"/>
        </p:nvPicPr>
        <p:blipFill>
          <a:blip r:embed="rId20"/>
          <a:srcRect/>
          <a:stretch/>
        </p:blipFill>
        <p:spPr>
          <a:xfrm>
            <a:off x="11526898" y="6196827"/>
            <a:ext cx="540000" cy="563746"/>
          </a:xfrm>
          <a:prstGeom prst="rect">
            <a:avLst/>
          </a:prstGeom>
        </p:spPr>
      </p:pic>
    </p:spTree>
    <p:extLst>
      <p:ext uri="{BB962C8B-B14F-4D97-AF65-F5344CB8AC3E}">
        <p14:creationId xmlns:p14="http://schemas.microsoft.com/office/powerpoint/2010/main" val="2992154541"/>
      </p:ext>
    </p:extLst>
  </p:cSld>
  <p:clrMap bg1="lt1" tx1="dk1" bg2="lt2" tx2="dk2" accent1="accent1" accent2="accent2" accent3="accent3" accent4="accent4" accent5="accent5" accent6="accent6" hlink="hlink" folHlink="folHlink"/>
  <p:sldLayoutIdLst>
    <p:sldLayoutId id="2147483683" r:id="rId1"/>
    <p:sldLayoutId id="2147483685" r:id="rId2"/>
    <p:sldLayoutId id="2147483686" r:id="rId3"/>
    <p:sldLayoutId id="2147483687" r:id="rId4"/>
    <p:sldLayoutId id="2147483694" r:id="rId5"/>
    <p:sldLayoutId id="2147483695" r:id="rId6"/>
    <p:sldLayoutId id="2147483696" r:id="rId7"/>
    <p:sldLayoutId id="2147483697" r:id="rId8"/>
    <p:sldLayoutId id="2147483698" r:id="rId9"/>
    <p:sldLayoutId id="2147483699" r:id="rId10"/>
    <p:sldLayoutId id="2147483712" r:id="rId11"/>
    <p:sldLayoutId id="2147483713" r:id="rId12"/>
    <p:sldLayoutId id="2147483714" r:id="rId13"/>
    <p:sldLayoutId id="2147483715" r:id="rId14"/>
    <p:sldLayoutId id="2147483728" r:id="rId15"/>
    <p:sldLayoutId id="2147483729" r:id="rId16"/>
    <p:sldLayoutId id="2147483730" r:id="rId17"/>
    <p:sldLayoutId id="2147483731" r:id="rId18"/>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ustomXml" Target="../ink/ink1.xml"/><Relationship Id="rId4" Type="http://schemas.openxmlformats.org/officeDocument/2006/relationships/image" Target="../media/image7.png"/><Relationship Id="rId5" Type="http://schemas.openxmlformats.org/officeDocument/2006/relationships/customXml" Target="../ink/ink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ql-2-dashboard.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ql-2-dashboard.jpg"/><Relationship Id="rId4" Type="http://schemas.openxmlformats.org/officeDocument/2006/relationships/image" Target="../media/ql-3c-idea-tried.jpg"/><Relationship Id="rId5" Type="http://schemas.openxmlformats.org/officeDocument/2006/relationships/image" Target="../media/ql-5-agent.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3DB0B4-723F-452D-B6F7-124821BAD925}"/>
              </a:ext>
            </a:extLst>
          </p:cNvPr>
          <p:cNvSpPr>
            <a:spLocks noGrp="1"/>
          </p:cNvSpPr>
          <p:nvPr>
            <p:ph type="title"/>
          </p:nvPr>
        </p:nvSpPr>
        <p:spPr>
          <a:xfrm>
            <a:off x="1369406" y="1505328"/>
            <a:ext cx="7858800" cy="1120785"/>
          </a:xfrm>
        </p:spPr>
        <p:txBody>
          <a:bodyPr/>
          <a:lstStyle/>
          <a:p>
            <a:pPr algn="ctr"/>
            <a:r>
              <a:rPr lang="en-AU" sz="3600" i="1" dirty="0"/>
              <a:t>INFS3605: Information Systems Innovation &amp; Transformation</a:t>
            </a:r>
            <a:br>
              <a:rPr lang="en-AU" sz="3600" dirty="0"/>
            </a:br>
            <a:br>
              <a:rPr lang="en-AU" sz="4800" dirty="0"/>
            </a:br>
            <a:r>
              <a:rPr lang="en-AU" sz="4800" dirty="0"/>
              <a:t>Week 07 · PoC Demo</a:t>
            </a:r>
            <a:br>
              <a:rPr lang="en-AU" sz="3600" dirty="0"/>
            </a:br>
            <a:r>
              <a:rPr lang="en-AU" sz="4400" i="1" dirty="0"/>
              <a:t>QuickLift.ai</a:t>
            </a:r>
            <a:br>
              <a:rPr lang="en-AU" sz="4400" dirty="0"/>
            </a:br>
            <a:endParaRPr lang="en-AU" sz="4400" dirty="0"/>
          </a:p>
        </p:txBody>
      </p:sp>
      <p:grpSp>
        <p:nvGrpSpPr>
          <p:cNvPr id="7" name="Group 6">
            <a:extLst>
              <a:ext uri="{FF2B5EF4-FFF2-40B4-BE49-F238E27FC236}">
                <a16:creationId xmlns:a16="http://schemas.microsoft.com/office/drawing/2014/main" id="{1B37CDB4-E5B1-7A8A-59F0-7EF02A94C258}"/>
              </a:ext>
            </a:extLst>
          </p:cNvPr>
          <p:cNvGrpSpPr/>
          <p:nvPr/>
        </p:nvGrpSpPr>
        <p:grpSpPr>
          <a:xfrm>
            <a:off x="11700628" y="4168317"/>
            <a:ext cx="360" cy="360"/>
            <a:chOff x="11700628" y="4168317"/>
            <a:chExt cx="360" cy="360"/>
          </a:xfrm>
        </p:grpSpPr>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03D575B2-115B-21F1-4D40-B2659A37229A}"/>
                    </a:ext>
                  </a:extLst>
                </p14:cNvPr>
                <p14:cNvContentPartPr/>
                <p14:nvPr/>
              </p14:nvContentPartPr>
              <p14:xfrm>
                <a:off x="11700628" y="4168317"/>
                <a:ext cx="360" cy="360"/>
              </p14:xfrm>
            </p:contentPart>
          </mc:Choice>
          <mc:Fallback xmlns="">
            <p:pic>
              <p:nvPicPr>
                <p:cNvPr id="5" name="Ink 4">
                  <a:extLst>
                    <a:ext uri="{FF2B5EF4-FFF2-40B4-BE49-F238E27FC236}">
                      <a16:creationId xmlns:a16="http://schemas.microsoft.com/office/drawing/2014/main" id="{03D575B2-115B-21F1-4D40-B2659A37229A}"/>
                    </a:ext>
                  </a:extLst>
                </p:cNvPr>
                <p:cNvPicPr/>
                <p:nvPr/>
              </p:nvPicPr>
              <p:blipFill>
                <a:blip r:embed="rId4"/>
                <a:stretch>
                  <a:fillRect/>
                </a:stretch>
              </p:blipFill>
              <p:spPr>
                <a:xfrm>
                  <a:off x="11691628" y="415967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F6535A8B-5C84-B8F8-4603-3DBAB3D4B055}"/>
                    </a:ext>
                  </a:extLst>
                </p14:cNvPr>
                <p14:cNvContentPartPr/>
                <p14:nvPr/>
              </p14:nvContentPartPr>
              <p14:xfrm>
                <a:off x="11700628" y="4168317"/>
                <a:ext cx="360" cy="360"/>
              </p14:xfrm>
            </p:contentPart>
          </mc:Choice>
          <mc:Fallback xmlns="">
            <p:pic>
              <p:nvPicPr>
                <p:cNvPr id="6" name="Ink 5">
                  <a:extLst>
                    <a:ext uri="{FF2B5EF4-FFF2-40B4-BE49-F238E27FC236}">
                      <a16:creationId xmlns:a16="http://schemas.microsoft.com/office/drawing/2014/main" id="{F6535A8B-5C84-B8F8-4603-3DBAB3D4B055}"/>
                    </a:ext>
                  </a:extLst>
                </p:cNvPr>
                <p:cNvPicPr/>
                <p:nvPr/>
              </p:nvPicPr>
              <p:blipFill>
                <a:blip r:embed="rId4"/>
                <a:stretch>
                  <a:fillRect/>
                </a:stretch>
              </p:blipFill>
              <p:spPr>
                <a:xfrm>
                  <a:off x="11691628" y="4159677"/>
                  <a:ext cx="18000" cy="18000"/>
                </a:xfrm>
                <a:prstGeom prst="rect">
                  <a:avLst/>
                </a:prstGeom>
              </p:spPr>
            </p:pic>
          </mc:Fallback>
        </mc:AlternateContent>
      </p:grpSp>
      <p:sp>
        <p:nvSpPr>
          <p:cNvPr id="8" name="Team details"/>
          <p:cNvSpPr txBox="1"/>
          <p:nvPr/>
        </p:nvSpPr>
        <p:spPr>
          <a:xfrm>
            <a:off x="1369406" y="5486400"/>
            <a:ext cx="7858800" cy="731520"/>
          </a:xfrm>
          <a:prstGeom prst="rect">
            <a:avLst/>
          </a:prstGeom>
          <a:noFill/>
        </p:spPr>
        <p:txBody>
          <a:bodyPr wrap="square" anchor="t" lIns="0" rIns="0" tIns="0" bIns="0">
            <a:spAutoFit/>
          </a:bodyPr>
          <a:lstStyle/>
          <a:p>
            <a:pPr algn="ctr">
              <a:spcAft>
                <a:spcPts val="400"/>
              </a:spcAft>
            </a:pPr>
            <a:r>
              <a:rPr sz="1300" b="0" i="0">
                <a:solidFill>
                  <a:srgbClr val="231F20"/>
                </a:solidFill>
                <a:latin typeface="Arial"/>
              </a:rPr>
              <a:t>W14A-10 · Wednesday 2PM seminar · [Challenge stream]</a:t>
            </a:r>
          </a:p>
          <a:p>
            <a:pPr algn="ctr">
              <a:spcAft>
                <a:spcPts val="400"/>
              </a:spcAft>
            </a:pPr>
            <a:r>
              <a:rPr sz="1300" b="0" i="0">
                <a:solidFill>
                  <a:srgbClr val="231F20"/>
                </a:solidFill>
                <a:latin typeface="Arial"/>
              </a:rPr>
              <a:t>Nicholas Griffith · Aidan Smith · Isaac Ho · Owen Burgher · Dyashothan Kumar</a:t>
            </a:r>
          </a:p>
        </p:txBody>
      </p:sp>
    </p:spTree>
    <p:extLst>
      <p:ext uri="{BB962C8B-B14F-4D97-AF65-F5344CB8AC3E}">
        <p14:creationId xmlns:p14="http://schemas.microsoft.com/office/powerpoint/2010/main" val="1422213002"/>
      </p:ext>
    </p:extLst>
  </p:cSld>
  <p:clrMapOvr>
    <a:masterClrMapping/>
  </p:clrMapOvr>
  <mc:AlternateContent xmlns:mc="http://schemas.openxmlformats.org/markup-compatibility/2006" xmlns:p14="http://schemas.microsoft.com/office/powerpoint/2010/main">
    <mc:Choice Requires="p14">
      <p:transition spd="slow" p14:dur="2000" advTm="31663"/>
    </mc:Choice>
    <mc:Fallback xmlns="">
      <p:transition spd="slow" advTm="31663"/>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The problem</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40 SEC</a:t>
            </a:r>
          </a:p>
        </p:txBody>
      </p:sp>
      <p:sp>
        <p:nvSpPr>
          <p:cNvPr id="4" name="Rectangle 3"/>
          <p:cNvSpPr/>
          <p:nvPr/>
        </p:nvSpPr>
        <p:spPr>
          <a:xfrm>
            <a:off x="841248" y="1600200"/>
            <a:ext cx="576072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97280" y="1783080"/>
            <a:ext cx="530352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Problem statement</a:t>
            </a:r>
          </a:p>
        </p:txBody>
      </p:sp>
      <p:sp>
        <p:nvSpPr>
          <p:cNvPr id="6" name="TextBox 5"/>
          <p:cNvSpPr txBox="1"/>
          <p:nvPr/>
        </p:nvSpPr>
        <p:spPr>
          <a:xfrm>
            <a:off x="1097280" y="2148840"/>
            <a:ext cx="5303520" cy="27432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Small Australian Shopify stores lose sales over things a shopper spots in seconds, like no Afterpay near the price or a delivery cost that only shows up at checkout. Owners usually can't tell which of these matter most. Even when they can, most can't change their theme without paying a developer, so nothing gets fixed.</a:t>
            </a:r>
          </a:p>
        </p:txBody>
      </p:sp>
      <p:sp>
        <p:nvSpPr>
          <p:cNvPr id="7" name="TextBox 6"/>
          <p:cNvSpPr txBox="1"/>
          <p:nvPr/>
        </p:nvSpPr>
        <p:spPr>
          <a:xfrm>
            <a:off x="1097280" y="4983480"/>
            <a:ext cx="5303520" cy="68580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 xml:space="preserve">Who has this problem: </a:t>
            </a:r>
          </a:p>
          <a:p>
            <a:pPr algn="l">
              <a:spcAft>
                <a:spcPts val="400"/>
              </a:spcAft>
            </a:pPr>
            <a:r>
              <a:rPr sz="1200" b="0" i="0">
                <a:solidFill>
                  <a:srgbClr val="231F20"/>
                </a:solidFill>
                <a:latin typeface="Arial"/>
              </a:rPr>
              <a:t>People running small Australian Shopify stores, usually without a developer and short on time</a:t>
            </a:r>
          </a:p>
        </p:txBody>
      </p:sp>
      <p:sp>
        <p:nvSpPr>
          <p:cNvPr id="8" name="Rectangle 7"/>
          <p:cNvSpPr/>
          <p:nvPr/>
        </p:nvSpPr>
        <p:spPr>
          <a:xfrm>
            <a:off x="6858000" y="1600200"/>
            <a:ext cx="4663440" cy="128016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40880" y="176479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1</a:t>
            </a:r>
          </a:p>
        </p:txBody>
      </p:sp>
      <p:sp>
        <p:nvSpPr>
          <p:cNvPr id="10" name="TextBox 9"/>
          <p:cNvSpPr txBox="1"/>
          <p:nvPr/>
        </p:nvSpPr>
        <p:spPr>
          <a:xfrm>
            <a:off x="7589520" y="173736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Extra costs at checkout, like shipping, are one of the most common reasons people abandon a cart.</a:t>
            </a:r>
          </a:p>
        </p:txBody>
      </p:sp>
      <p:sp>
        <p:nvSpPr>
          <p:cNvPr id="11" name="TextBox 10"/>
          <p:cNvSpPr txBox="1"/>
          <p:nvPr/>
        </p:nvSpPr>
        <p:spPr>
          <a:xfrm>
            <a:off x="7589520" y="244144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Baymard Institute, cart abandonment research</a:t>
            </a:r>
          </a:p>
        </p:txBody>
      </p:sp>
      <p:sp>
        <p:nvSpPr>
          <p:cNvPr id="12" name="Rectangle 11"/>
          <p:cNvSpPr/>
          <p:nvPr/>
        </p:nvSpPr>
        <p:spPr>
          <a:xfrm>
            <a:off x="6858000" y="301752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040880" y="318211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2</a:t>
            </a:r>
          </a:p>
        </p:txBody>
      </p:sp>
      <p:sp>
        <p:nvSpPr>
          <p:cNvPr id="14" name="TextBox 13"/>
          <p:cNvSpPr txBox="1"/>
          <p:nvPr/>
        </p:nvSpPr>
        <p:spPr>
          <a:xfrm>
            <a:off x="7589520" y="3154679"/>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Big brands miss these too. When we checked frankbody.com it had no Afterpay near the price and nothing saying it's Australian.</a:t>
            </a:r>
          </a:p>
        </p:txBody>
      </p:sp>
      <p:sp>
        <p:nvSpPr>
          <p:cNvPr id="15" name="TextBox 14"/>
          <p:cNvSpPr txBox="1"/>
          <p:nvPr/>
        </p:nvSpPr>
        <p:spPr>
          <a:xfrm>
            <a:off x="7589520" y="385876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Our own check with QuickLift, 27 Oct 2026</a:t>
            </a:r>
          </a:p>
        </p:txBody>
      </p:sp>
      <p:sp>
        <p:nvSpPr>
          <p:cNvPr id="16" name="Rectangle 15"/>
          <p:cNvSpPr/>
          <p:nvPr/>
        </p:nvSpPr>
        <p:spPr>
          <a:xfrm>
            <a:off x="6858000" y="443484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040880" y="4599431"/>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3</a:t>
            </a:r>
          </a:p>
        </p:txBody>
      </p:sp>
      <p:sp>
        <p:nvSpPr>
          <p:cNvPr id="18" name="TextBox 17"/>
          <p:cNvSpPr txBox="1"/>
          <p:nvPr/>
        </p:nvSpPr>
        <p:spPr>
          <a:xfrm>
            <a:off x="7589520" y="457200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[Quote from our participating owner: what is hard about changing their store]</a:t>
            </a:r>
          </a:p>
        </p:txBody>
      </p:sp>
      <p:sp>
        <p:nvSpPr>
          <p:cNvPr id="19" name="TextBox 18"/>
          <p:cNvSpPr txBox="1"/>
          <p:nvPr/>
        </p:nvSpPr>
        <p:spPr>
          <a:xfrm>
            <a:off x="7589520" y="527608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[Owner interview, 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solution design</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50 SEC</a:t>
            </a:r>
          </a:p>
        </p:txBody>
      </p:sp>
      <p:sp>
        <p:nvSpPr>
          <p:cNvPr id="4" name="Rectangle 3"/>
          <p:cNvSpPr/>
          <p:nvPr/>
        </p:nvSpPr>
        <p:spPr>
          <a:xfrm>
            <a:off x="841248" y="1600200"/>
            <a:ext cx="4754880" cy="141732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37360"/>
            <a:ext cx="438912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In one sentence</a:t>
            </a:r>
          </a:p>
        </p:txBody>
      </p:sp>
      <p:sp>
        <p:nvSpPr>
          <p:cNvPr id="6" name="TextBox 5"/>
          <p:cNvSpPr txBox="1"/>
          <p:nvPr/>
        </p:nvSpPr>
        <p:spPr>
          <a:xfrm>
            <a:off x="1051560" y="2057400"/>
            <a:ext cx="4389120" cy="914400"/>
          </a:xfrm>
          <a:prstGeom prst="rect">
            <a:avLst/>
          </a:prstGeom>
          <a:noFill/>
        </p:spPr>
        <p:txBody>
          <a:bodyPr wrap="square" anchor="t" lIns="0" rIns="0" tIns="0" bIns="0">
            <a:spAutoFit/>
          </a:bodyPr>
          <a:lstStyle/>
          <a:p>
            <a:pPr algn="l">
              <a:spcAft>
                <a:spcPts val="400"/>
              </a:spcAft>
            </a:pPr>
            <a:r>
              <a:rPr sz="1500" b="0" i="0">
                <a:solidFill>
                  <a:srgbClr val="231F20"/>
                </a:solidFill>
                <a:latin typeface="Arial"/>
              </a:rPr>
              <a:t>You paste in a Shopify store and QuickLift lists what a shopper would miss. The owner can try each fix on their real page, or ask the agent for a change of their own.</a:t>
            </a:r>
          </a:p>
        </p:txBody>
      </p:sp>
      <p:pic>
        <p:nvPicPr>
          <p:cNvPr id="7" name="Image placeholder picture" descr="QuickLift owner dashboard for frankbody.com: three things to fix, ranked, and the Ask the agent box"/>
          <p:cNvPicPr>
            <a:picLocks noChangeAspect="1"/>
          </p:cNvPicPr>
          <p:nvPr/>
        </p:nvPicPr>
        <p:blipFill>
          <a:blip r:embed="rId3"/>
          <a:stretch>
            <a:fillRect/>
          </a:stretch>
        </p:blipFill>
        <p:spPr>
          <a:xfrm>
            <a:off x="1097280" y="3154680"/>
            <a:ext cx="4242816" cy="2651760"/>
          </a:xfrm>
          <a:prstGeom prst="rect">
            <a:avLst/>
          </a:prstGeom>
          <a:ln w="9525">
            <a:solidFill>
              <a:srgbClr val="D0D0D0"/>
            </a:solidFill>
          </a:ln>
        </p:spPr>
      </p:pic>
      <p:sp>
        <p:nvSpPr>
          <p:cNvPr id="8" name="TextBox 7"/>
          <p:cNvSpPr txBox="1"/>
          <p:nvPr/>
        </p:nvSpPr>
        <p:spPr>
          <a:xfrm>
            <a:off x="5897880" y="1600200"/>
            <a:ext cx="56235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Design decisions and the evidence behind them</a:t>
            </a:r>
          </a:p>
        </p:txBody>
      </p:sp>
      <p:sp>
        <p:nvSpPr>
          <p:cNvPr id="9" name="Rectangle 8"/>
          <p:cNvSpPr/>
          <p:nvPr/>
        </p:nvSpPr>
        <p:spPr>
          <a:xfrm>
            <a:off x="5897880" y="201168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80760" y="212140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1</a:t>
            </a:r>
          </a:p>
        </p:txBody>
      </p:sp>
      <p:sp>
        <p:nvSpPr>
          <p:cNvPr id="11" name="TextBox 10"/>
          <p:cNvSpPr txBox="1"/>
          <p:nvPr/>
        </p:nvSpPr>
        <p:spPr>
          <a:xfrm>
            <a:off x="6080760" y="239572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Only Shopify stores, but any kind of online shop</a:t>
            </a:r>
          </a:p>
        </p:txBody>
      </p:sp>
      <p:sp>
        <p:nvSpPr>
          <p:cNvPr id="12" name="TextBox 11"/>
          <p:cNvSpPr txBox="1"/>
          <p:nvPr/>
        </p:nvSpPr>
        <p:spPr>
          <a:xfrm>
            <a:off x="8732520" y="212140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3" name="TextBox 12"/>
          <p:cNvSpPr txBox="1"/>
          <p:nvPr/>
        </p:nvSpPr>
        <p:spPr>
          <a:xfrm>
            <a:off x="8732520" y="239572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 stores publish their pages and product data, so we can check one without a login</a:t>
            </a:r>
          </a:p>
        </p:txBody>
      </p:sp>
      <p:sp>
        <p:nvSpPr>
          <p:cNvPr id="14" name="Rectangle 13"/>
          <p:cNvSpPr/>
          <p:nvPr/>
        </p:nvSpPr>
        <p:spPr>
          <a:xfrm>
            <a:off x="5897880" y="329184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80760" y="340156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2</a:t>
            </a:r>
          </a:p>
        </p:txBody>
      </p:sp>
      <p:sp>
        <p:nvSpPr>
          <p:cNvPr id="16" name="TextBox 15"/>
          <p:cNvSpPr txBox="1"/>
          <p:nvPr/>
        </p:nvSpPr>
        <p:spPr>
          <a:xfrm>
            <a:off x="6080760" y="367588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Owners see every change on their own page before it goes live</a:t>
            </a:r>
          </a:p>
        </p:txBody>
      </p:sp>
      <p:sp>
        <p:nvSpPr>
          <p:cNvPr id="17" name="TextBox 16"/>
          <p:cNvSpPr txBox="1"/>
          <p:nvPr/>
        </p:nvSpPr>
        <p:spPr>
          <a:xfrm>
            <a:off x="8732520" y="340156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8" name="TextBox 17"/>
          <p:cNvSpPr txBox="1"/>
          <p:nvPr/>
        </p:nvSpPr>
        <p:spPr>
          <a:xfrm>
            <a:off x="8732520" y="367588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Our Week 2 research found trust was a bigger barrier to SMEs using AI than cost</a:t>
            </a:r>
          </a:p>
        </p:txBody>
      </p:sp>
      <p:sp>
        <p:nvSpPr>
          <p:cNvPr id="19" name="Rectangle 18"/>
          <p:cNvSpPr/>
          <p:nvPr/>
        </p:nvSpPr>
        <p:spPr>
          <a:xfrm>
            <a:off x="5897880" y="457200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80760" y="468172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3</a:t>
            </a:r>
          </a:p>
        </p:txBody>
      </p:sp>
      <p:sp>
        <p:nvSpPr>
          <p:cNvPr id="21" name="TextBox 20"/>
          <p:cNvSpPr txBox="1"/>
          <p:nvPr/>
        </p:nvSpPr>
        <p:spPr>
          <a:xfrm>
            <a:off x="6080760" y="495604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We don't make up facts, so there's no automatic reviews fix</a:t>
            </a:r>
          </a:p>
        </p:txBody>
      </p:sp>
      <p:sp>
        <p:nvSpPr>
          <p:cNvPr id="22" name="TextBox 21"/>
          <p:cNvSpPr txBox="1"/>
          <p:nvPr/>
        </p:nvSpPr>
        <p:spPr>
          <a:xfrm>
            <a:off x="8732520" y="468172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23" name="TextBox 22"/>
          <p:cNvSpPr txBox="1"/>
          <p:nvPr/>
        </p:nvSpPr>
        <p:spPr>
          <a:xfrm>
            <a:off x="8732520" y="495604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Fake reviews mislead shoppers and break consumer law. The agent flags facts the owner must confirm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agentic feature</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60 SEC</a:t>
            </a:r>
          </a:p>
        </p:txBody>
      </p:sp>
      <p:sp>
        <p:nvSpPr>
          <p:cNvPr id="4" name="TextBox 3"/>
          <p:cNvSpPr txBox="1"/>
          <p:nvPr/>
        </p:nvSpPr>
        <p:spPr>
          <a:xfrm>
            <a:off x="841248" y="1463040"/>
            <a:ext cx="10607040" cy="365760"/>
          </a:xfrm>
          <a:prstGeom prst="rect">
            <a:avLst/>
          </a:prstGeom>
          <a:noFill/>
        </p:spPr>
        <p:txBody>
          <a:bodyPr wrap="square" anchor="t" lIns="0" rIns="0" tIns="0" bIns="0">
            <a:spAutoFit/>
          </a:bodyPr>
          <a:lstStyle/>
          <a:p>
            <a:pPr algn="l">
              <a:spcAft>
                <a:spcPts val="400"/>
              </a:spcAft>
            </a:pPr>
            <a:r>
              <a:rPr sz="1500" b="1" i="0">
                <a:solidFill>
                  <a:srgbClr val="231F20"/>
                </a:solidFill>
                <a:latin typeface="Arial"/>
              </a:rPr>
              <a:t xml:space="preserve">The friction it removes: </a:t>
            </a:r>
            <a:r>
              <a:rPr sz="1500" b="0" i="0">
                <a:solidFill>
                  <a:srgbClr val="231F20"/>
                </a:solidFill>
                <a:latin typeface="Arial"/>
              </a:rPr>
              <a:t>any change to a Shopify page means editing theme code or paying someone to do it</a:t>
            </a:r>
          </a:p>
        </p:txBody>
      </p:sp>
      <p:sp>
        <p:nvSpPr>
          <p:cNvPr id="5" name="TextBox 4"/>
          <p:cNvSpPr txBox="1"/>
          <p:nvPr/>
        </p:nvSpPr>
        <p:spPr>
          <a:xfrm>
            <a:off x="841248" y="1965960"/>
            <a:ext cx="45720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Today, without it</a:t>
            </a:r>
          </a:p>
        </p:txBody>
      </p:sp>
      <p:sp>
        <p:nvSpPr>
          <p:cNvPr id="6" name="Rectangle 5"/>
          <p:cNvSpPr/>
          <p:nvPr/>
        </p:nvSpPr>
        <p:spPr>
          <a:xfrm>
            <a:off x="841248" y="23317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4688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Find the theme file that controls it</a:t>
            </a:r>
          </a:p>
        </p:txBody>
      </p:sp>
      <p:sp>
        <p:nvSpPr>
          <p:cNvPr id="8" name="Rectangle 7"/>
          <p:cNvSpPr/>
          <p:nvPr/>
        </p:nvSpPr>
        <p:spPr>
          <a:xfrm>
            <a:off x="841248" y="30175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31546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Write and test the code by hand</a:t>
            </a:r>
          </a:p>
        </p:txBody>
      </p:sp>
      <p:sp>
        <p:nvSpPr>
          <p:cNvPr id="10" name="Rectangle 9"/>
          <p:cNvSpPr/>
          <p:nvPr/>
        </p:nvSpPr>
        <p:spPr>
          <a:xfrm>
            <a:off x="841248" y="37033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3840480"/>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Or pay a developer and wait</a:t>
            </a:r>
          </a:p>
        </p:txBody>
      </p:sp>
      <p:sp>
        <p:nvSpPr>
          <p:cNvPr id="12" name="Right Arrow 11"/>
          <p:cNvSpPr/>
          <p:nvPr/>
        </p:nvSpPr>
        <p:spPr>
          <a:xfrm>
            <a:off x="4297680" y="3017520"/>
            <a:ext cx="457200" cy="457200"/>
          </a:xfrm>
          <a:prstGeom prst="rightArrow">
            <a:avLst/>
          </a:prstGeom>
          <a:solidFill>
            <a:srgbClr val="231F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965960"/>
            <a:ext cx="64008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With the agent</a:t>
            </a:r>
          </a:p>
        </p:txBody>
      </p:sp>
      <p:sp>
        <p:nvSpPr>
          <p:cNvPr id="14" name="Rounded Rectangle 13"/>
          <p:cNvSpPr/>
          <p:nvPr/>
        </p:nvSpPr>
        <p:spPr>
          <a:xfrm>
            <a:off x="4983480" y="2331720"/>
            <a:ext cx="1508760" cy="19659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12064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Trigger</a:t>
            </a:r>
          </a:p>
        </p:txBody>
      </p:sp>
      <p:sp>
        <p:nvSpPr>
          <p:cNvPr id="16" name="TextBox 15"/>
          <p:cNvSpPr txBox="1"/>
          <p:nvPr/>
        </p:nvSpPr>
        <p:spPr>
          <a:xfrm>
            <a:off x="512064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types what they want changed, or picks one of the agent's ideas for the page</a:t>
            </a:r>
          </a:p>
        </p:txBody>
      </p:sp>
      <p:sp>
        <p:nvSpPr>
          <p:cNvPr id="17" name="Rounded Rectangle 16"/>
          <p:cNvSpPr/>
          <p:nvPr/>
        </p:nvSpPr>
        <p:spPr>
          <a:xfrm>
            <a:off x="6629400" y="2331720"/>
            <a:ext cx="1508760" cy="1965960"/>
          </a:xfrm>
          <a:prstGeom prst="roundRect">
            <a:avLst>
              <a:gd name="adj" fmla="val 8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66560" y="2468880"/>
            <a:ext cx="1280160" cy="274320"/>
          </a:xfrm>
          <a:prstGeom prst="rect">
            <a:avLst/>
          </a:prstGeom>
          <a:noFill/>
        </p:spPr>
        <p:txBody>
          <a:bodyPr wrap="square" anchor="t" lIns="0" rIns="0" tIns="0" bIns="0">
            <a:spAutoFit/>
          </a:bodyPr>
          <a:lstStyle/>
          <a:p>
            <a:pPr algn="l">
              <a:spcAft>
                <a:spcPts val="400"/>
              </a:spcAft>
            </a:pPr>
            <a:r>
              <a:rPr sz="1200" b="1" i="0">
                <a:solidFill>
                  <a:srgbClr val="FFDC00"/>
                </a:solidFill>
                <a:latin typeface="Arial"/>
              </a:rPr>
              <a:t>The agent</a:t>
            </a:r>
          </a:p>
        </p:txBody>
      </p:sp>
      <p:sp>
        <p:nvSpPr>
          <p:cNvPr id="19" name="TextBox 18"/>
          <p:cNvSpPr txBox="1"/>
          <p:nvPr/>
        </p:nvSpPr>
        <p:spPr>
          <a:xfrm>
            <a:off x="6766560" y="2834640"/>
            <a:ext cx="1280160" cy="1371600"/>
          </a:xfrm>
          <a:prstGeom prst="rect">
            <a:avLst/>
          </a:prstGeom>
          <a:noFill/>
        </p:spPr>
        <p:txBody>
          <a:bodyPr wrap="square" anchor="t" lIns="0" rIns="0" tIns="0" bIns="0">
            <a:spAutoFit/>
          </a:bodyPr>
          <a:lstStyle/>
          <a:p>
            <a:pPr algn="l">
              <a:spcAft>
                <a:spcPts val="400"/>
              </a:spcAft>
            </a:pPr>
            <a:r>
              <a:rPr sz="1100" b="0" i="1">
                <a:solidFill>
                  <a:srgbClr val="C8C8C8"/>
                </a:solidFill>
                <a:latin typeface="Arial"/>
              </a:rPr>
              <a:t>Works out which parts of the page to change and writes the code for that theme</a:t>
            </a:r>
          </a:p>
        </p:txBody>
      </p:sp>
      <p:sp>
        <p:nvSpPr>
          <p:cNvPr id="20" name="Rounded Rectangle 19"/>
          <p:cNvSpPr/>
          <p:nvPr/>
        </p:nvSpPr>
        <p:spPr>
          <a:xfrm>
            <a:off x="8275320" y="2331720"/>
            <a:ext cx="1508760" cy="1965960"/>
          </a:xfrm>
          <a:prstGeom prst="roundRect">
            <a:avLst>
              <a:gd name="adj" fmla="val 8000"/>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Human check</a:t>
            </a:r>
          </a:p>
        </p:txBody>
      </p:sp>
      <p:sp>
        <p:nvSpPr>
          <p:cNvPr id="22" name="TextBox 21"/>
          <p:cNvSpPr txBox="1"/>
          <p:nvPr/>
        </p:nvSpPr>
        <p:spPr>
          <a:xfrm>
            <a:off x="841248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checks it on their real page, reads any warning, and approves it</a:t>
            </a:r>
          </a:p>
        </p:txBody>
      </p:sp>
      <p:sp>
        <p:nvSpPr>
          <p:cNvPr id="23" name="Rounded Rectangle 22"/>
          <p:cNvSpPr/>
          <p:nvPr/>
        </p:nvSpPr>
        <p:spPr>
          <a:xfrm>
            <a:off x="9921240" y="2331720"/>
            <a:ext cx="1508760" cy="1965960"/>
          </a:xfrm>
          <a:prstGeom prst="roundRect">
            <a:avLst>
              <a:gd name="adj" fmla="val 8000"/>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5840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Outcome</a:t>
            </a:r>
          </a:p>
        </p:txBody>
      </p:sp>
      <p:sp>
        <p:nvSpPr>
          <p:cNvPr id="25" name="TextBox 24"/>
          <p:cNvSpPr txBox="1"/>
          <p:nvPr/>
        </p:nvSpPr>
        <p:spPr>
          <a:xfrm>
            <a:off x="1005840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change is made in minutes without the owner touching code, and can be undone</a:t>
            </a:r>
          </a:p>
        </p:txBody>
      </p:sp>
      <p:sp>
        <p:nvSpPr>
          <p:cNvPr id="26" name="Rectangle 25"/>
          <p:cNvSpPr/>
          <p:nvPr/>
        </p:nvSpPr>
        <p:spPr>
          <a:xfrm>
            <a:off x="841248" y="4572000"/>
            <a:ext cx="10680192" cy="12344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4681728"/>
            <a:ext cx="10241280" cy="27432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Why it’s agentic, not just a chatbot</a:t>
            </a:r>
          </a:p>
        </p:txBody>
      </p:sp>
      <p:sp>
        <p:nvSpPr>
          <p:cNvPr id="28" name="TextBox 27"/>
          <p:cNvSpPr txBox="1"/>
          <p:nvPr/>
        </p:nvSpPr>
        <p:spPr>
          <a:xfrm>
            <a:off x="1051560" y="5010912"/>
            <a:ext cx="1024128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It makes the edit itself instead of telling the owner how. It reads an outline of the live page, decides what to change and writes the CSS and JavaScript using Claude through the Anthropic API. The change shows up in a preview first, and if the agent had to assume something, like a shipping time, it says so. Once the owner approves, it goes into the theme through Shopify's Admin API.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How we built it</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30 SEC</a:t>
            </a:r>
          </a:p>
        </p:txBody>
      </p:sp>
      <p:sp>
        <p:nvSpPr>
          <p:cNvPr id="4" name="Rectangle 3"/>
          <p:cNvSpPr/>
          <p:nvPr/>
        </p:nvSpPr>
        <p:spPr>
          <a:xfrm>
            <a:off x="841248" y="160020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0992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Interface</a:t>
            </a:r>
          </a:p>
        </p:txBody>
      </p:sp>
      <p:sp>
        <p:nvSpPr>
          <p:cNvPr id="6" name="TextBox 5"/>
          <p:cNvSpPr txBox="1"/>
          <p:nvPr/>
        </p:nvSpPr>
        <p:spPr>
          <a:xfrm>
            <a:off x="2743200" y="172821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A web app with a home page, the owner's dashboard and a preview of their real store page</a:t>
            </a:r>
          </a:p>
        </p:txBody>
      </p:sp>
      <p:sp>
        <p:nvSpPr>
          <p:cNvPr id="7" name="Rectangle 6"/>
          <p:cNvSpPr/>
          <p:nvPr/>
        </p:nvSpPr>
        <p:spPr>
          <a:xfrm>
            <a:off x="841248" y="260604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71576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Data</a:t>
            </a:r>
          </a:p>
        </p:txBody>
      </p:sp>
      <p:sp>
        <p:nvSpPr>
          <p:cNvPr id="9" name="TextBox 8"/>
          <p:cNvSpPr txBox="1"/>
          <p:nvPr/>
        </p:nvSpPr>
        <p:spPr>
          <a:xfrm>
            <a:off x="2743200" y="273405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There's no database yet. Each check reads the store's public pages and product feed live and keeps them for five minutes. We don't store anything about shoppers.</a:t>
            </a:r>
          </a:p>
        </p:txBody>
      </p:sp>
      <p:sp>
        <p:nvSpPr>
          <p:cNvPr id="10" name="Rectangle 9"/>
          <p:cNvSpPr/>
          <p:nvPr/>
        </p:nvSpPr>
        <p:spPr>
          <a:xfrm>
            <a:off x="841248" y="3611880"/>
            <a:ext cx="6035040" cy="86868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72160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AI and agent</a:t>
            </a:r>
          </a:p>
        </p:txBody>
      </p:sp>
      <p:sp>
        <p:nvSpPr>
          <p:cNvPr id="12" name="TextBox 11"/>
          <p:cNvSpPr txBox="1"/>
          <p:nvPr/>
        </p:nvSpPr>
        <p:spPr>
          <a:xfrm>
            <a:off x="2743200" y="373989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Claude, through the Anthropic API. Our Node and Express server makes the call, so the API key never reaches the browser.</a:t>
            </a:r>
          </a:p>
        </p:txBody>
      </p:sp>
      <p:sp>
        <p:nvSpPr>
          <p:cNvPr id="13" name="Rectangle 12"/>
          <p:cNvSpPr/>
          <p:nvPr/>
        </p:nvSpPr>
        <p:spPr>
          <a:xfrm>
            <a:off x="841248" y="461772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72744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Connections</a:t>
            </a:r>
          </a:p>
        </p:txBody>
      </p:sp>
      <p:sp>
        <p:nvSpPr>
          <p:cNvPr id="15" name="TextBox 14"/>
          <p:cNvSpPr txBox="1"/>
          <p:nvPr/>
        </p:nvSpPr>
        <p:spPr>
          <a:xfrm>
            <a:off x="2743200" y="474573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Shopify's public storefront pages and product feed for reading, and the Shopify Admin API for publishing</a:t>
            </a:r>
          </a:p>
        </p:txBody>
      </p:sp>
      <p:sp>
        <p:nvSpPr>
          <p:cNvPr id="16" name="Rectangle 15"/>
          <p:cNvSpPr/>
          <p:nvPr/>
        </p:nvSpPr>
        <p:spPr>
          <a:xfrm>
            <a:off x="7178040" y="1600200"/>
            <a:ext cx="4343400" cy="288036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0" y="1755648"/>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Working today</a:t>
            </a:r>
          </a:p>
        </p:txBody>
      </p:sp>
      <p:sp>
        <p:nvSpPr>
          <p:cNvPr id="18" name="TextBox 17"/>
          <p:cNvSpPr txBox="1"/>
          <p:nvPr/>
        </p:nvSpPr>
        <p:spPr>
          <a:xfrm>
            <a:off x="7406640" y="2103120"/>
            <a:ext cx="3931920" cy="82296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Checking any Shopify store, the ranked dashboard, 4 ready-made fixes, the agent's own ideas for each page, its changes on the real page, and 16 automated tests</a:t>
            </a:r>
          </a:p>
        </p:txBody>
      </p:sp>
      <p:sp>
        <p:nvSpPr>
          <p:cNvPr id="19" name="TextBox 18"/>
          <p:cNvSpPr txBox="1"/>
          <p:nvPr/>
        </p:nvSpPr>
        <p:spPr>
          <a:xfrm>
            <a:off x="7406640" y="2926080"/>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Mocked or still to build</a:t>
            </a:r>
          </a:p>
        </p:txBody>
      </p:sp>
      <p:sp>
        <p:nvSpPr>
          <p:cNvPr id="20" name="TextBox 19"/>
          <p:cNvSpPr txBox="1"/>
          <p:nvPr/>
        </p:nvSpPr>
        <p:spPr>
          <a:xfrm>
            <a:off x="7406640" y="3273552"/>
            <a:ext cx="3931920" cy="109728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There's no log-in, so the dashboard opens for any store address. Publishing only works on a store we have a key for [not yet tried on our dev store]. In Weeks 8 and 9 we'll connect stores through Shopify and test with our owner.</a:t>
            </a:r>
          </a:p>
        </p:txBody>
      </p:sp>
      <p:sp>
        <p:nvSpPr>
          <p:cNvPr id="21" name="Rectangle 20"/>
          <p:cNvSpPr/>
          <p:nvPr/>
        </p:nvSpPr>
        <p:spPr>
          <a:xfrm>
            <a:off x="7178040" y="4617720"/>
            <a:ext cx="4343400" cy="118872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06640" y="4736592"/>
            <a:ext cx="3931920" cy="32004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PROMPTS.md</a:t>
            </a:r>
          </a:p>
        </p:txBody>
      </p:sp>
      <p:sp>
        <p:nvSpPr>
          <p:cNvPr id="23" name="TextBox 22"/>
          <p:cNvSpPr txBox="1"/>
          <p:nvPr/>
        </p:nvSpPr>
        <p:spPr>
          <a:xfrm>
            <a:off x="7406640" y="5074920"/>
            <a:ext cx="3931920" cy="64008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github.com/NickWG113/shopfix-au (private, access on request) [PROMPTS.md to add]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Live demo</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 MIN</a:t>
            </a:r>
          </a:p>
        </p:txBody>
      </p:sp>
      <p:sp>
        <p:nvSpPr>
          <p:cNvPr id="4" name="Rectangle 3"/>
          <p:cNvSpPr/>
          <p:nvPr/>
        </p:nvSpPr>
        <p:spPr>
          <a:xfrm>
            <a:off x="841248" y="1600200"/>
            <a:ext cx="4937760" cy="420624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4389120" cy="822960"/>
          </a:xfrm>
          <a:prstGeom prst="rect">
            <a:avLst/>
          </a:prstGeom>
          <a:noFill/>
        </p:spPr>
        <p:txBody>
          <a:bodyPr wrap="square" anchor="t" lIns="0" rIns="0" tIns="0" bIns="0">
            <a:spAutoFit/>
          </a:bodyPr>
          <a:lstStyle/>
          <a:p>
            <a:pPr algn="l">
              <a:spcAft>
                <a:spcPts val="400"/>
              </a:spcAft>
            </a:pPr>
            <a:r>
              <a:rPr sz="2600" b="1" i="0">
                <a:solidFill>
                  <a:srgbClr val="231F20"/>
                </a:solidFill>
                <a:latin typeface="Arial"/>
              </a:rPr>
              <a:t>Switch to the live demo</a:t>
            </a:r>
          </a:p>
        </p:txBody>
      </p:sp>
      <p:sp>
        <p:nvSpPr>
          <p:cNvPr id="6" name="TextBox 5"/>
          <p:cNvSpPr txBox="1"/>
          <p:nvPr/>
        </p:nvSpPr>
        <p:spPr>
          <a:xfrm>
            <a:off x="1143000" y="2743200"/>
            <a:ext cx="4389120" cy="2743200"/>
          </a:xfrm>
          <a:prstGeom prst="rect">
            <a:avLst/>
          </a:prstGeom>
          <a:noFill/>
        </p:spPr>
        <p:txBody>
          <a:bodyPr wrap="square" anchor="t" lIns="0" rIns="0" tIns="0" bIns="0">
            <a:spAutoFit/>
          </a:bodyPr>
          <a:lstStyle/>
          <a:p>
            <a:pPr algn="l">
              <a:spcAft>
                <a:spcPts val="1200"/>
              </a:spcAft>
            </a:pPr>
            <a:r>
              <a:rPr sz="1500" b="1" i="0">
                <a:solidFill>
                  <a:srgbClr val="231F20"/>
                </a:solidFill>
                <a:latin typeface="Arial"/>
              </a:rPr>
              <a:t xml:space="preserve">User: </a:t>
            </a:r>
            <a:r>
              <a:rPr sz="1500" b="0" i="1">
                <a:solidFill>
                  <a:srgbClr val="555555"/>
                </a:solidFill>
                <a:latin typeface="Arial"/>
              </a:rPr>
              <a:t>Owner of a small Australian skincare brand on Shopify</a:t>
            </a:r>
          </a:p>
          <a:p>
            <a:pPr algn="l">
              <a:spcAft>
                <a:spcPts val="1200"/>
              </a:spcAft>
            </a:pPr>
            <a:r>
              <a:rPr sz="1500" b="1" i="0">
                <a:solidFill>
                  <a:srgbClr val="231F20"/>
                </a:solidFill>
                <a:latin typeface="Arial"/>
              </a:rPr>
              <a:t xml:space="preserve">Scenario: </a:t>
            </a:r>
            <a:r>
              <a:rPr sz="1500" b="0" i="1">
                <a:solidFill>
                  <a:srgbClr val="555555"/>
                </a:solidFill>
                <a:latin typeface="Arial"/>
              </a:rPr>
              <a:t>They want more people to buy but don't know what to change, and they can't code. We're using frankbody.com, a real Australian store, as the example.</a:t>
            </a:r>
          </a:p>
          <a:p>
            <a:pPr algn="l">
              <a:spcAft>
                <a:spcPts val="1200"/>
              </a:spcAft>
            </a:pPr>
            <a:r>
              <a:rPr sz="1500" b="1" i="0">
                <a:solidFill>
                  <a:srgbClr val="231F20"/>
                </a:solidFill>
                <a:latin typeface="Arial"/>
              </a:rPr>
              <a:t xml:space="preserve">Watch for: </a:t>
            </a:r>
            <a:r>
              <a:rPr sz="1500" b="0" i="1">
                <a:solidFill>
                  <a:srgbClr val="555555"/>
                </a:solidFill>
                <a:latin typeface="Arial"/>
              </a:rPr>
              <a:t>the agent changing the live page from one sentence in step 3</a:t>
            </a:r>
          </a:p>
        </p:txBody>
      </p:sp>
      <p:sp>
        <p:nvSpPr>
          <p:cNvPr id="7" name="TextBox 6"/>
          <p:cNvSpPr txBox="1"/>
          <p:nvPr/>
        </p:nvSpPr>
        <p:spPr>
          <a:xfrm>
            <a:off x="6126480" y="1600200"/>
            <a:ext cx="53949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Demo script</a:t>
            </a:r>
          </a:p>
        </p:txBody>
      </p:sp>
      <p:sp>
        <p:nvSpPr>
          <p:cNvPr id="8" name="Rectangle 7"/>
          <p:cNvSpPr/>
          <p:nvPr/>
        </p:nvSpPr>
        <p:spPr>
          <a:xfrm>
            <a:off x="6126480" y="201168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09360" y="219456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1</a:t>
            </a:r>
          </a:p>
        </p:txBody>
      </p:sp>
      <p:sp>
        <p:nvSpPr>
          <p:cNvPr id="10" name="TextBox 9"/>
          <p:cNvSpPr txBox="1"/>
          <p:nvPr/>
        </p:nvSpPr>
        <p:spPr>
          <a:xfrm>
            <a:off x="6949440" y="221284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Enter frankbody.com on the home page. The dashboard lists three things to fix and says why</a:t>
            </a:r>
          </a:p>
        </p:txBody>
      </p:sp>
      <p:sp>
        <p:nvSpPr>
          <p:cNvPr id="11" name="Rectangle 10"/>
          <p:cNvSpPr/>
          <p:nvPr/>
        </p:nvSpPr>
        <p:spPr>
          <a:xfrm>
            <a:off x="6126480" y="297180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309360" y="315468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2</a:t>
            </a:r>
          </a:p>
        </p:txBody>
      </p:sp>
      <p:sp>
        <p:nvSpPr>
          <p:cNvPr id="13" name="TextBox 12"/>
          <p:cNvSpPr txBox="1"/>
          <p:nvPr/>
        </p:nvSpPr>
        <p:spPr>
          <a:xfrm>
            <a:off x="6949440" y="317296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Turn on the Afterpay fix. The page jumps to it under the real price, marked as changed</a:t>
            </a:r>
          </a:p>
        </p:txBody>
      </p:sp>
      <p:sp>
        <p:nvSpPr>
          <p:cNvPr id="14" name="Rectangle 13"/>
          <p:cNvSpPr/>
          <p:nvPr/>
        </p:nvSpPr>
        <p:spPr>
          <a:xfrm>
            <a:off x="6126480" y="393192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09360" y="411480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3</a:t>
            </a:r>
          </a:p>
        </p:txBody>
      </p:sp>
      <p:sp>
        <p:nvSpPr>
          <p:cNvPr id="16" name="TextBox 15"/>
          <p:cNvSpPr txBox="1"/>
          <p:nvPr/>
        </p:nvSpPr>
        <p:spPr>
          <a:xfrm>
            <a:off x="6949440" y="413308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Try one of the agent's ideas, then ask it to make Add to cart bigger and green with a Sydney shipping line</a:t>
            </a:r>
          </a:p>
        </p:txBody>
      </p:sp>
      <p:sp>
        <p:nvSpPr>
          <p:cNvPr id="17" name="Rectangle 16"/>
          <p:cNvSpPr/>
          <p:nvPr/>
        </p:nvSpPr>
        <p:spPr>
          <a:xfrm>
            <a:off x="6126480" y="489204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09360" y="507492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4</a:t>
            </a:r>
          </a:p>
        </p:txBody>
      </p:sp>
      <p:sp>
        <p:nvSpPr>
          <p:cNvPr id="19" name="TextBox 18"/>
          <p:cNvSpPr txBox="1"/>
          <p:nvPr/>
        </p:nvSpPr>
        <p:spPr>
          <a:xfrm>
            <a:off x="6949440" y="509320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Show that it flags the shipping time for the owner to check, then press Approve and publish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Backup: if the demo fails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ONLY IF NEEDED</a:t>
            </a:r>
          </a:p>
        </p:txBody>
      </p:sp>
      <p:pic>
        <p:nvPicPr>
          <p:cNvPr id="4" name="Rectangle 3 picture" descr="QuickLift dashboard for frankbody.com"/>
          <p:cNvPicPr>
            <a:picLocks noChangeAspect="1"/>
          </p:cNvPicPr>
          <p:nvPr/>
        </p:nvPicPr>
        <p:blipFill>
          <a:blip r:embed="rId3"/>
          <a:stretch>
            <a:fillRect/>
          </a:stretch>
        </p:blipFill>
        <p:spPr>
          <a:xfrm>
            <a:off x="841248" y="1600200"/>
            <a:ext cx="3383280" cy="2114550"/>
          </a:xfrm>
          <a:prstGeom prst="rect">
            <a:avLst/>
          </a:prstGeom>
          <a:ln w="9525">
            <a:solidFill>
              <a:srgbClr val="D0D0D0"/>
            </a:solidFill>
          </a:ln>
        </p:spPr>
      </p:pic>
      <p:sp>
        <p:nvSpPr>
          <p:cNvPr id="5" name="TextBox 4"/>
          <p:cNvSpPr txBox="1"/>
          <p:nvPr/>
        </p:nvSpPr>
        <p:spPr>
          <a:xfrm>
            <a:off x="84124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The dashboard for frankbody.com, with the three things to fix in order</a:t>
            </a:r>
          </a:p>
        </p:txBody>
      </p:sp>
      <p:pic>
        <p:nvPicPr>
          <p:cNvPr id="6" name="Rectangle 5 picture" descr="Preview with the agent's ideas and the kit contents list it added"/>
          <p:cNvPicPr>
            <a:picLocks noChangeAspect="1"/>
          </p:cNvPicPr>
          <p:nvPr/>
        </p:nvPicPr>
        <p:blipFill>
          <a:blip r:embed="rId4"/>
          <a:stretch>
            <a:fillRect/>
          </a:stretch>
        </p:blipFill>
        <p:spPr>
          <a:xfrm>
            <a:off x="4453128" y="1600200"/>
            <a:ext cx="3383280" cy="2114550"/>
          </a:xfrm>
          <a:prstGeom prst="rect">
            <a:avLst/>
          </a:prstGeom>
          <a:ln w="9525">
            <a:solidFill>
              <a:srgbClr val="D0D0D0"/>
            </a:solidFill>
          </a:ln>
        </p:spPr>
      </p:pic>
      <p:sp>
        <p:nvSpPr>
          <p:cNvPr id="7" name="TextBox 6"/>
          <p:cNvSpPr txBox="1"/>
          <p:nvPr/>
        </p:nvSpPr>
        <p:spPr>
          <a:xfrm>
            <a:off x="445312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One of the agent's own ideas, tried on the real page: a list of what's in the kit</a:t>
            </a:r>
          </a:p>
        </p:txBody>
      </p:sp>
      <p:pic>
        <p:nvPicPr>
          <p:cNvPr id="8" name="Rectangle 7 picture" descr="Preview after the agent's change, with its warning about the shipping claim"/>
          <p:cNvPicPr>
            <a:picLocks noChangeAspect="1"/>
          </p:cNvPicPr>
          <p:nvPr/>
        </p:nvPicPr>
        <p:blipFill>
          <a:blip r:embed="rId5"/>
          <a:stretch>
            <a:fillRect/>
          </a:stretch>
        </p:blipFill>
        <p:spPr>
          <a:xfrm>
            <a:off x="8065008" y="1600200"/>
            <a:ext cx="3383280" cy="2114550"/>
          </a:xfrm>
          <a:prstGeom prst="rect">
            <a:avLst/>
          </a:prstGeom>
          <a:ln w="9525">
            <a:solidFill>
              <a:srgbClr val="D0D0D0"/>
            </a:solidFill>
          </a:ln>
        </p:spPr>
      </p:pic>
      <p:sp>
        <p:nvSpPr>
          <p:cNvPr id="9" name="TextBox 8"/>
          <p:cNvSpPr txBox="1"/>
          <p:nvPr/>
        </p:nvSpPr>
        <p:spPr>
          <a:xfrm>
            <a:off x="806500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After the agent's change, with its note asking the owner to confirm the shipping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Questions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5 MIN Q&amp;A</a:t>
            </a:r>
          </a:p>
        </p:txBody>
      </p:sp>
      <p:sp>
        <p:nvSpPr>
          <p:cNvPr id="4" name="Rectangle 3"/>
          <p:cNvSpPr/>
          <p:nvPr/>
        </p:nvSpPr>
        <p:spPr>
          <a:xfrm>
            <a:off x="841248" y="1600200"/>
            <a:ext cx="5669280" cy="420624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5120640" cy="822960"/>
          </a:xfrm>
          <a:prstGeom prst="rect">
            <a:avLst/>
          </a:prstGeom>
          <a:noFill/>
        </p:spPr>
        <p:txBody>
          <a:bodyPr wrap="square" anchor="t" lIns="0" rIns="0" tIns="0" bIns="0">
            <a:spAutoFit/>
          </a:bodyPr>
          <a:lstStyle/>
          <a:p>
            <a:pPr algn="l">
              <a:spcAft>
                <a:spcPts val="400"/>
              </a:spcAft>
            </a:pPr>
            <a:r>
              <a:rPr sz="3200" b="1" i="0">
                <a:solidFill>
                  <a:srgbClr val="FFDC00"/>
                </a:solidFill>
                <a:latin typeface="Arial"/>
              </a:rPr>
              <a:t>Thank you</a:t>
            </a:r>
          </a:p>
        </p:txBody>
      </p:sp>
      <p:sp>
        <p:nvSpPr>
          <p:cNvPr id="6" name="TextBox 5"/>
          <p:cNvSpPr txBox="1"/>
          <p:nvPr/>
        </p:nvSpPr>
        <p:spPr>
          <a:xfrm>
            <a:off x="1143000" y="2743200"/>
            <a:ext cx="5120640" cy="9144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QuickLift.ai · W14A-10</a:t>
            </a:r>
          </a:p>
        </p:txBody>
      </p:sp>
      <p:sp>
        <p:nvSpPr>
          <p:cNvPr id="7" name="Rectangle 6"/>
          <p:cNvSpPr/>
          <p:nvPr/>
        </p:nvSpPr>
        <p:spPr>
          <a:xfrm>
            <a:off x="6812280" y="1600200"/>
            <a:ext cx="470916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40880" y="1783080"/>
            <a:ext cx="429768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Next: testing with users in Weeks 8–9</a:t>
            </a:r>
          </a:p>
        </p:txBody>
      </p:sp>
      <p:sp>
        <p:nvSpPr>
          <p:cNvPr id="9" name="TextBox 8"/>
          <p:cNvSpPr txBox="1"/>
          <p:nvPr/>
        </p:nvSpPr>
        <p:spPr>
          <a:xfrm>
            <a:off x="7040880" y="2194560"/>
            <a:ext cx="4297680" cy="3474720"/>
          </a:xfrm>
          <a:prstGeom prst="rect">
            <a:avLst/>
          </a:prstGeom>
          <a:noFill/>
        </p:spPr>
        <p:txBody>
          <a:bodyPr wrap="square" anchor="t" lIns="0" rIns="0" tIns="0" bIns="0">
            <a:spAutoFit/>
          </a:bodyPr>
          <a:lstStyle/>
          <a:p>
            <a:pPr algn="l">
              <a:spcAft>
                <a:spcPts val="400"/>
              </a:spcAft>
            </a:pPr>
            <a:r>
              <a:rPr sz="1400" b="0" i="0">
                <a:solidFill>
                  <a:srgbClr val="231F20"/>
                </a:solidFill>
                <a:latin typeface="Arial"/>
              </a:rPr>
              <a:t>Our participating Shopify owner, using their own store</a:t>
            </a:r>
          </a:p>
          <a:p>
            <a:pPr algn="l">
              <a:spcAft>
                <a:spcPts val="400"/>
              </a:spcAft>
            </a:pPr>
            <a:r>
              <a:rPr sz="1400" b="0" i="0">
                <a:solidFill>
                  <a:srgbClr val="231F20"/>
                </a:solidFill>
                <a:latin typeface="Arial"/>
              </a:rPr>
              <a:t>We'll ask them to check their store, turn on any fixes they agree with, and ask the agent for one change of their own</a:t>
            </a:r>
          </a:p>
          <a:p>
            <a:pPr algn="l">
              <a:spcAft>
                <a:spcPts val="400"/>
              </a:spcAft>
            </a:pPr>
            <a:r>
              <a:rPr sz="1400" b="0" i="0">
                <a:solidFill>
                  <a:srgbClr val="231F20"/>
                </a:solidFill>
                <a:latin typeface="Arial"/>
              </a:rPr>
              <a:t>If they'd approve a change they'd normally pay a developer for, and want to come back and make another, it's working</a:t>
            </a:r>
          </a:p>
        </p:txBody>
      </p:sp>
    </p:spTree>
  </p:cSld>
  <p:clrMapOvr>
    <a:masterClrMapping/>
  </p:clrMapOvr>
</p:sld>
</file>

<file path=ppt/theme/theme1.xml><?xml version="1.0" encoding="utf-8"?>
<a:theme xmlns:a="http://schemas.openxmlformats.org/drawingml/2006/main" name="Office Theme">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0EA36605-08ED-504A-A04C-54CB5DB3C297}"/>
    </a:ext>
  </a:extLst>
</a:theme>
</file>

<file path=ppt/theme/theme2.xml><?xml version="1.0" encoding="utf-8"?>
<a:theme xmlns:a="http://schemas.openxmlformats.org/drawingml/2006/main" name="1_Custom Design">
  <a:themeElements>
    <a:clrScheme name="Custom 1">
      <a:dk1>
        <a:srgbClr val="000000"/>
      </a:dk1>
      <a:lt1>
        <a:srgbClr val="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C0A0CACF-EFAE-294A-BE0D-A9BAB598AD87}"/>
    </a:ext>
  </a:extLst>
</a:theme>
</file>

<file path=ppt/theme/theme3.xml><?xml version="1.0" encoding="utf-8"?>
<a:theme xmlns:a="http://schemas.openxmlformats.org/drawingml/2006/main" name="2_Custom Design">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6EED41B3-9730-2E42-9E44-37EF66E49F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7C54DFADBD284F9DDDDF010F0B290D" ma:contentTypeVersion="10" ma:contentTypeDescription="Create a new document." ma:contentTypeScope="" ma:versionID="031fb899f05bf07d207057ce1170ce35">
  <xsd:schema xmlns:xsd="http://www.w3.org/2001/XMLSchema" xmlns:xs="http://www.w3.org/2001/XMLSchema" xmlns:p="http://schemas.microsoft.com/office/2006/metadata/properties" xmlns:ns2="08329f26-4308-4e14-8151-37c5b1ba0249" xmlns:ns3="4e5597a6-5818-4f8c-a8a6-bf4c9ae9bd1b" targetNamespace="http://schemas.microsoft.com/office/2006/metadata/properties" ma:root="true" ma:fieldsID="8a2adbbfef6aaff8735ba30791e40baa" ns2:_="" ns3:_="">
    <xsd:import namespace="08329f26-4308-4e14-8151-37c5b1ba0249"/>
    <xsd:import namespace="4e5597a6-5818-4f8c-a8a6-bf4c9ae9bd1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8329f26-4308-4e14-8151-37c5b1ba024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e5597a6-5818-4f8c-a8a6-bf4c9ae9bd1b"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6F36D4B-89AA-43AA-A4F8-41021B539501}">
  <ds:schemaRefs>
    <ds:schemaRef ds:uri="http://schemas.microsoft.com/sharepoint/v3/contenttype/forms"/>
  </ds:schemaRefs>
</ds:datastoreItem>
</file>

<file path=customXml/itemProps2.xml><?xml version="1.0" encoding="utf-8"?>
<ds:datastoreItem xmlns:ds="http://schemas.openxmlformats.org/officeDocument/2006/customXml" ds:itemID="{052C9556-BF89-4EB6-9C3D-FC2B56F9EB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8329f26-4308-4e14-8151-37c5b1ba0249"/>
    <ds:schemaRef ds:uri="4e5597a6-5818-4f8c-a8a6-bf4c9ae9bd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4CE31FE-9010-4DD9-ACBF-74A5EE27FA83}">
  <ds:schemaRefs>
    <ds:schemaRef ds:uri="http://purl.org/dc/elements/1.1/"/>
    <ds:schemaRef ds:uri="http://purl.org/dc/terms/"/>
    <ds:schemaRef ds:uri="08329f26-4308-4e14-8151-37c5b1ba0249"/>
    <ds:schemaRef ds:uri="http://purl.org/dc/dcmitype/"/>
    <ds:schemaRef ds:uri="http://www.w3.org/XML/1998/namespace"/>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4e5597a6-5818-4f8c-a8a6-bf4c9ae9bd1b"/>
  </ds:schemaRefs>
</ds:datastoreItem>
</file>

<file path=docProps/app.xml><?xml version="1.0" encoding="utf-8"?>
<Properties xmlns="http://schemas.openxmlformats.org/officeDocument/2006/extended-properties" xmlns:vt="http://schemas.openxmlformats.org/officeDocument/2006/docPropsVTypes">
  <Template>Office Theme</Template>
  <TotalTime>11219</TotalTime>
  <Words>3618</Words>
  <Application>Microsoft Macintosh PowerPoint</Application>
  <PresentationFormat>Widescreen</PresentationFormat>
  <Paragraphs>345</Paragraphs>
  <Slides>21</Slides>
  <Notes>21</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21</vt:i4>
      </vt:variant>
    </vt:vector>
  </HeadingPairs>
  <TitlesOfParts>
    <vt:vector size="27" baseType="lpstr">
      <vt:lpstr>Arial</vt:lpstr>
      <vt:lpstr>Calibri</vt:lpstr>
      <vt:lpstr>Roboto</vt:lpstr>
      <vt:lpstr>Office Theme</vt:lpstr>
      <vt:lpstr>1_Custom Design</vt:lpstr>
      <vt:lpstr>2_Custom Design</vt:lpstr>
      <vt:lpstr>INFS3605: Information Systems Innovation &amp; Transformation  Week 03 Define: Frame the Problem Worth Solving  </vt:lpstr>
      <vt:lpstr>Today’s run sheet</vt:lpstr>
      <vt:lpstr>Your Portfolio themes</vt:lpstr>
      <vt:lpstr>Discovery share-back</vt:lpstr>
      <vt:lpstr>Where we are: closing the first diamond</vt:lpstr>
      <vt:lpstr>Discovery across two weeks</vt:lpstr>
      <vt:lpstr>Finishing the Problem Framing Canvas</vt:lpstr>
      <vt:lpstr>The working block</vt:lpstr>
      <vt:lpstr>E · Problem behind the problem</vt:lpstr>
      <vt:lpstr>Example: a plumbing business</vt:lpstr>
      <vt:lpstr>F · Who cares about it?</vt:lpstr>
      <vt:lpstr>G · What type of problem is this?</vt:lpstr>
      <vt:lpstr>H · Reframing the problem</vt:lpstr>
      <vt:lpstr>H · Five lenses for reframing</vt:lpstr>
      <vt:lpstr>Reframes across the three streams</vt:lpstr>
      <vt:lpstr>Good HMWs spark ten ideas</vt:lpstr>
      <vt:lpstr>I · What does success look like?</vt:lpstr>
      <vt:lpstr>PowerPoint Presentation</vt:lpstr>
      <vt:lpstr>I · Problem statement v1</vt:lpstr>
      <vt:lpstr>Consultations</vt:lpstr>
      <vt:lpstr>Before 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title1</dc:title>
  <dc:creator>Sandeep Mysore Seshadrinath</dc:creator>
  <cp:lastModifiedBy>Sandeep Mysore Seshadrinath</cp:lastModifiedBy>
  <cp:revision>2</cp:revision>
  <dcterms:created xsi:type="dcterms:W3CDTF">2024-05-13T01:48:24Z</dcterms:created>
  <dcterms:modified xsi:type="dcterms:W3CDTF">2026-09-25T00:20:23Z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0x010100E57C54DFADBD284F9DDDDF010F0B290D</vt:lpwstr>
  </property>
</Properties>
</file>